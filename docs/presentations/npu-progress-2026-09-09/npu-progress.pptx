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One-shot</c:v>
                </c:pt>
              </c:strCache>
            </c:strRef>
          </c:tx>
          <c:spPr>
            <a:solidFill>
              <a:srgbClr val="356BDC"/>
            </a:solidFill>
            <a:ln>
              <a:noFill/>
            </a:ln>
          </c:spPr>
          <c:cat>
            <c:strRef>
              <c:f>Sheet1!$A$2:$A$3</c:f>
              <c:strCache>
                <c:ptCount val="2"/>
                <c:pt idx="0">
                  <c:v>AMD</c:v>
                </c:pt>
                <c:pt idx="1">
                  <c:v>Intel</c:v>
                </c:pt>
              </c:strCache>
            </c:strRef>
          </c:cat>
          <c:val>
            <c:numRef>
              <c:f>Sheet1!$B$2:$B$3</c:f>
              <c:numCache>
                <c:formatCode>General</c:formatCode>
                <c:ptCount val="2"/>
                <c:pt idx="0">
                  <c:v>6</c:v>
                </c:pt>
                <c:pt idx="1">
                  <c:v>8</c:v>
                </c:pt>
              </c:numCache>
            </c:numRef>
          </c:val>
        </c:ser>
        <c:ser>
          <c:idx val="1"/>
          <c:order val="1"/>
          <c:tx>
            <c:strRef>
              <c:f>Sheet1!$C$1</c:f>
              <c:strCache>
                <c:ptCount val="1"/>
                <c:pt idx="0">
                  <c:v>Agentic</c:v>
                </c:pt>
              </c:strCache>
            </c:strRef>
          </c:tx>
          <c:spPr>
            <a:solidFill>
              <a:srgbClr val="008778"/>
            </a:solidFill>
            <a:ln>
              <a:noFill/>
            </a:ln>
          </c:spPr>
          <c:cat>
            <c:strRef>
              <c:f>Sheet1!$A$2:$A$3</c:f>
              <c:strCache>
                <c:ptCount val="2"/>
                <c:pt idx="0">
                  <c:v>AMD</c:v>
                </c:pt>
                <c:pt idx="1">
                  <c:v>Intel</c:v>
                </c:pt>
              </c:strCache>
            </c:strRef>
          </c:cat>
          <c:val>
            <c:numRef>
              <c:f>Sheet1!$C$2:$C$3</c:f>
              <c:numCache>
                <c:formatCode>General</c:formatCode>
                <c:ptCount val="2"/>
                <c:pt idx="0">
                  <c:v>9</c:v>
                </c:pt>
                <c:pt idx="1">
                  <c:v>10</c:v>
                </c:pt>
              </c:numCache>
            </c:numRef>
          </c:val>
        </c:ser>
        <c:dLbls>
          <c:numFmt formatCode="0&quot;/10&quot;" sourceLinked="0"/>
          <c:txPr>
            <a:bodyPr/>
            <a:lstStyle/>
            <a:p>
              <a:pPr>
                <a:defRPr sz="1700" b="1">
                  <a:solidFill>
                    <a:srgbClr val="142B40"/>
                  </a:solidFill>
                  <a:latin typeface="Arial"/>
                </a:defRPr>
              </a:pPr>
            </a:p>
          </c:txPr>
          <c:dLblPos val="outEnd"/>
          <c:showLegendKey val="0"/>
          <c:showVal val="1"/>
          <c:showCatName val="0"/>
          <c:showSerName val="0"/>
          <c:showPercent val="0"/>
          <c:showBubbleSize val="0"/>
          <c:showLeaderLines val="1"/>
        </c:dLbls>
        <c:gapWidth val="95"/>
        <c:axId val="-2068027336"/>
        <c:axId val="-2113994440"/>
      </c:barChart>
      <c:catAx>
        <c:axId val="-2068027336"/>
        <c:scaling>
          <c:orientation val="minMax"/>
        </c:scaling>
        <c:delete val="0"/>
        <c:axPos val="b"/>
        <c:majorTickMark val="none"/>
        <c:minorTickMark val="none"/>
        <c:tickLblPos val="nextTo"/>
        <c:txPr>
          <a:bodyPr/>
          <a:lstStyle/>
          <a:p>
            <a:pPr>
              <a:defRPr sz="1500"/>
            </a:pPr>
          </a:p>
        </c:txPr>
        <c:crossAx val="-2113994440"/>
        <c:crosses val="autoZero"/>
        <c:auto val="1"/>
        <c:lblAlgn val="ctr"/>
        <c:lblOffset val="100"/>
        <c:noMultiLvlLbl val="0"/>
      </c:catAx>
      <c:valAx>
        <c:axId val="-2113994440"/>
        <c:scaling>
          <c:max val="10.0"/>
          <c:min val="0.0"/>
        </c:scaling>
        <c:delete val="0"/>
        <c:axPos val="l"/>
        <c:majorGridlines>
          <c:spPr>
            <a:ln>
              <a:solidFill>
                <a:srgbClr val="DFE6ED"/>
              </a:solidFill>
            </a:ln>
          </c:spPr>
        </c:majorGridlines>
        <c:majorTickMark val="none"/>
        <c:minorTickMark val="none"/>
        <c:tickLblPos val="nextTo"/>
        <c:txPr>
          <a:bodyPr/>
          <a:lstStyle/>
          <a:p>
            <a:pPr>
              <a:defRPr sz="1100">
                <a:solidFill>
                  <a:srgbClr val="546579"/>
                </a:solidFill>
              </a:defRPr>
            </a:pPr>
          </a:p>
        </c:txPr>
        <c:crossAx val="-2068027336"/>
        <c:crosses val="autoZero"/>
        <c:majorUnit val="2.0"/>
      </c:valAx>
    </c:plotArea>
    <c:legend>
      <c:legendPos val="b"/>
      <c:overlay val="0"/>
      <c:txPr>
        <a:bodyPr/>
        <a:lstStyle/>
        <a:p>
          <a:pPr>
            <a:defRPr sz="1300">
              <a:latin typeface="Arial"/>
            </a:defRPr>
          </a:pPr>
        </a:p>
      </c:txPr>
    </c:legend>
    <c:dispBlanksAs val="gap"/>
  </c:chart>
  <c:txPr>
    <a:bodyPr/>
    <a:lstStyle/>
    <a:p>
      <a:pPr>
        <a:defRPr sz="13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claim is that the evaluated one-shot baseline is unreliable, not that all current LLMs cannot translate NPU code. In the completed historical experiment, baseline completed 14 of 20 kernel-target tasks and agentic completed 19 of 20. AMD completion meant compilation only; Intel completion included historical CPU equivalence and NPU compilation. The newer 22-case suite verifies the upgraded evaluator using deterministic candidates and zero provider calls. It does not demonstrate a new 100% LLM translation rate. No exact NPU binary execution or NPU latency/power measurement is recorded.</a:t>
            </a:r>
          </a:p>
          <a:p/>
          <a:p>
            <a:r>
              <a:t>Sources:</a:t>
            </a:r>
          </a:p>
          <a:p>
            <a:r>
              <a:t>E1: runs/20260904T011639Z/{experiment.json, metrics.jsonl, summary.json}</a:t>
            </a:r>
          </a:p>
          <a:p>
            <a:r>
              <a:t>E2: runs/container-upgrade-validation/{summary.json, corpus-final/report.json, fixtures/report.json}</a:t>
            </a:r>
          </a:p>
          <a:p>
            <a:r>
              <a:t>E3: docs/validation-results.md and docs/container-simulation-vs-hardware-report.md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is derived from metrics.jsonl and cross-checked against the completed experiment. AMD baseline passes: reduce sum, tiled matmul, tiled transpose, gamma correction, image convolution, fused softmax (6/10). Intel baseline fails image convolution and moving average (8/10 pass). PASS is historical task completion and must not be described as physical NPU correctness. The provider metadata names codex-cli 0.144.5 with model ‘CLI default’; a precise model version is not pinned in the experiment metadata. This limits broader claims about contemporary LLMs.</a:t>
            </a:r>
          </a:p>
          <a:p/>
          <a:p>
            <a:r>
              <a:t>Sources:</a:t>
            </a:r>
          </a:p>
          <a:p>
            <a:r>
              <a:t>E1: runs/20260904T011639Z/{experiment.json, metrics.jsonl, summary.json}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native chart uses final case completion, not the count of successful intermediate compile attempts. Agentic completes 9/10 AMD and 10/10 Intel tasks, compared with baseline 6/10 and 8/10. Five paired baseline failures become agentic successes; AMD fused attention remains unsuccessful with IR mismatch {'output': 0.5390625} after three analysis attempts. Agentic uses 127 provider calls and 216 compile attempts versus 20 and 20 for baseline. Search configuration: three rounds, branching factor three, up to two repair retries per candidate. Therefore the observed +25 percentage points is a workflow result at different budgets, not an isolated causal estimate of agent architecture. Intel host equivalence uses the historical evaluator, not the upgraded independent 12-input suite. AMD historical results contain no source or device correctness proof.</a:t>
            </a:r>
          </a:p>
          <a:p/>
          <a:p>
            <a:r>
              <a:t>Sources:</a:t>
            </a:r>
          </a:p>
          <a:p>
            <a:r>
              <a:t>E1: runs/20260904T011639Z/{experiment.json, metrics.jsonl, summary.json}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upgraded suite contains 11 supported static contracts per target: the ten classic manifests plus sigmoid. Each candidate runs on five normal seeds plus seven boundary input families. Across the targets there are 264 host input cases. AMD executes 132 unique dataflow input cases under three schedules, yielding 396 case/schedule comparisons; those are not 396 independent inputs. All 22 deterministic candidate-target cases pass the offline policy; eight additional positive fixtures also pass. Negative checks exercise arithmetic mutation, DMA bounds, missing FIFO release/deadlock and other boundaries. This supports scoped source/graph and modeled-dataflow correctness, not a proof for arbitrary kernels, original CUDA/HIP/Triton execution, or final device binaries. AMD host and dataflow checks share a topology model. The current suite has zero provider calls and is separate from the historical LLM experiment. Current exact-binary target execution remains blocked on both vendors.</a:t>
            </a:r>
          </a:p>
          <a:p/>
          <a:p>
            <a:r>
              <a:t>Sources:</a:t>
            </a:r>
          </a:p>
          <a:p>
            <a:r>
              <a:t>E2: runs/container-upgrade-validation/{summary.json, corpus-final/report.json, fixtures/report.json}</a:t>
            </a:r>
          </a:p>
          <a:p>
            <a:r>
              <a:t>E3: docs/validation-results.md and docs/container-simulation-vs-hardware-report.md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AMD: the upgraded path executes supported candidate C++ through host compatibility support, models emitted MLIR topology and bounded FIFO/DMA behavior, and compiles with the pinned MLIR-AIE/Peano toolchain. Unsupported intrinsics or topology are rejected or marked unsupported rather than treated as verified. This is source/dataflow validation, not an AIE2P instruction-set or cycle-accurate binary simulator. Intel: a candidate graph executes through OpenVINO CPU and also undergoes offline NPU compilation. CPU graph correctness is separate from correctness of the compiled NPU blob. Both profiles have no hardware runner, and every target_execution stage is blocked with NO_VALIDATED_TARGET_EXECUTOR; target-executed validation returns exit code 3. A container can host a real device runner when compatible hardware and drivers are passed through, but these current offline paths do not provide that execution. Vendor documentation is supporting context; the counts and executor status come from local reports.</a:t>
            </a:r>
          </a:p>
          <a:p/>
          <a:p>
            <a:r>
              <a:t>Sources:</a:t>
            </a:r>
          </a:p>
          <a:p>
            <a:r>
              <a:t>E2: runs/container-upgrade-validation/{summary.json, corpus-final/report.json, fixtures/report.json}</a:t>
            </a:r>
          </a:p>
          <a:p>
            <a:r>
              <a:t>E3: docs/validation-results.md and docs/container-simulation-vs-hardware-report.md</a:t>
            </a:r>
          </a:p>
          <a:p>
            <a:r>
              <a:t>P1: https://xilinx.github.io/mlir-aie/1.4.2/skills/aie-dataflow-presim/SKILL/</a:t>
            </a:r>
          </a:p>
          <a:p>
            <a:r>
              <a:t>P2: https://docs.openvino.ai/2026/openvino-workflow/running-inference/inference-devices-and-modes/npu-device.html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NPU latency, throughput, power or energy result is available from the current validation. Missing latency is null, not zero; power and energy were not collected. Functional simulations do not model the device’s actual clock behavior, runtime overhead, memory traffic timing, thermal state or physical power draw with validated accuracy. Hardware measurements should report warmup policy, repeated timings (including p50 and p95), throughput, average power and energy per completed inference. Energy per inference equals measured energy over the measurement window divided by completed inferences. Keep the workload, precision, shape, batch, transfer boundary and measurement boundary explicit. A power rating or CPU runtime is not a substitute for a measured device workload. MLPerf Tiny includes quality, latency and optional energy; MLPerf Edge explains whole-system power measurement. These sources motivate the proposed measurements; our project has no MLPerf submission or performance result.</a:t>
            </a:r>
          </a:p>
          <a:p/>
          <a:p>
            <a:r>
              <a:t>Sources:</a:t>
            </a:r>
          </a:p>
          <a:p>
            <a:r>
              <a:t>E2: runs/container-upgrade-validation/{summary.json, corpus-final/report.json, fixtures/report.json}</a:t>
            </a:r>
          </a:p>
          <a:p>
            <a:r>
              <a:t>E3: docs/validation-results.md and docs/container-simulation-vs-hardware-report.md</a:t>
            </a:r>
          </a:p>
          <a:p>
            <a:r>
              <a:t>P3: https://mlcommons.org/benchmarks/inference-tiny/</a:t>
            </a:r>
          </a:p>
          <a:p>
            <a:r>
              <a:t>P4: https://mlcommons.org/benchmarks/inference-edge/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proposed next steps, not completed work. First rerun the baseline and agentic translation experiment under the new offline acceptance policy, with an explicitly pinned model and a matched-budget comparison in addition to the existing workflow comparison. Second validate a device runner on each target and execute the exact compiled artifacts, verifying outputs before collecting performance. Third benchmark fixed workloads and precision under documented warmup and steady-state conditions, measuring latency, throughput, power and energy. State whether host transfers, loading and compilation are included. A useful result is a set of candidates that preserve device correctness while improving measured latency or energy, with the measurement boundaries disclosed.</a:t>
            </a:r>
          </a:p>
          <a:p/>
          <a:p>
            <a:r>
              <a:t>Sources:</a:t>
            </a:r>
          </a:p>
          <a:p>
            <a:r>
              <a:t>E1: runs/20260904T011639Z/{experiment.json, metrics.jsonl, summary.json}</a:t>
            </a:r>
          </a:p>
          <a:p>
            <a:r>
              <a:t>E2: runs/container-upgrade-validation/{summary.json, corpus-final/report.json, fixtures/report.json}</a:t>
            </a:r>
          </a:p>
          <a:p>
            <a:r>
              <a:t>E3: docs/validation-results.md and docs/container-simulation-vs-hardware-report.md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snapshot: 2026-09-09. Historical experiment ID 20260904T011639Z completed at 2026-09-04T06:42:44 UTC. The historical revision is 74f8ae752b2396cfb3f5e44226df93f2d8eb277d. The upgraded evaluator was validated on base d3efa60a08e5807c54b40832f3dcb2549f44ea00 plus uncommitted implementation changes. Image identities and compiler fingerprints, original per-case metrics, aggregate counts and SHA-256 hashes of source reports are preserved in the colocated evidence.json. Do not compare 19/20 and 22/22 as a before/after translation accuracy experiment: the candidates, evaluation criteria and use of LLMs differ. The presentation wording intentionally limits the first claim to the measured baseline and limits correctness to the representations actually checked. Full test run before the final alias guard: 98 passed including 23 container tests. Final CPU run: 76 passed, 23 deselected; final boundary checks: 47 passed. The corpus and fixtures were rerun after the guard. Those software checks do not provide hardware performance evidence.</a:t>
            </a:r>
          </a:p>
          <a:p/>
          <a:p>
            <a:r>
              <a:t>Sources:</a:t>
            </a:r>
          </a:p>
          <a:p>
            <a:r>
              <a:t>E1: runs/20260904T011639Z/{experiment.json, metrics.jsonl, summary.json}</a:t>
            </a:r>
          </a:p>
          <a:p>
            <a:r>
              <a:t>E2: runs/container-upgrade-validation/{summary.json, corpus-final/report.json, fixtures/report.json}</a:t>
            </a:r>
          </a:p>
          <a:p>
            <a:r>
              <a:t>E3: docs/validation-results.md and docs/container-simulation-vs-hardware-report.md</a:t>
            </a:r>
          </a:p>
          <a:p>
            <a:r>
              <a:t>P1: AMD MLIR-AIE dataflow pre-simulation — https://xilinx.github.io/mlir-aie/1.4.2/skills/aie-dataflow-presim/SKILL/</a:t>
            </a:r>
          </a:p>
          <a:p>
            <a:r>
              <a:t>P2: Intel OpenVINO NPU device documentation — https://docs.openvino.ai/2026/openvino-workflow/running-inference/inference-devices-and-modes/npu-device.html</a:t>
            </a:r>
          </a:p>
          <a:p>
            <a:r>
              <a:t>P3: MLPerf Tiny: quality, latency and optional energy — https://mlcommons.org/benchmarks/inference-tiny/</a:t>
            </a:r>
          </a:p>
          <a:p>
            <a:r>
              <a:t>P4: MLPerf Inference Edge: power measurement — https://mlcommons.org/benchmarks/inference-edge/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xilinx.github.io/mlir-aie/1.4.2/skills/aie-dataflow-presim/SKILL/" TargetMode="External"/><Relationship Id="rId3" Type="http://schemas.openxmlformats.org/officeDocument/2006/relationships/hyperlink" Target="https://docs.openvino.ai/2026/openvino-workflow/running-inference/inference-devices-and-modes/npu-device.html" TargetMode="External"/><Relationship Id="rId4" Type="http://schemas.openxmlformats.org/officeDocument/2006/relationships/hyperlink" Target="https://mlcommons.org/benchmarks/inference-tiny/" TargetMode="External"/><Relationship Id="rId5" Type="http://schemas.openxmlformats.org/officeDocument/2006/relationships/hyperlink" Target="https://mlcommons.org/benchmarks/inference-edge/" TargetMode="External"/><Relationship Id="rId6"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2337"/>
        </a:solidFill>
        <a:effectLst/>
      </p:bgPr>
    </p:bg>
    <p:spTree>
      <p:nvGrpSpPr>
        <p:cNvPr id="1" name=""/>
        <p:cNvGrpSpPr/>
        <p:nvPr/>
      </p:nvGrpSpPr>
      <p:grpSpPr/>
      <p:sp>
        <p:nvSpPr>
          <p:cNvPr id="2" name="TextBox 1"/>
          <p:cNvSpPr txBox="1"/>
          <p:nvPr/>
        </p:nvSpPr>
        <p:spPr>
          <a:xfrm>
            <a:off x="594360" y="274320"/>
            <a:ext cx="10789920" cy="210312"/>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5BD5C4"/>
                </a:solidFill>
                <a:latin typeface="Arial"/>
              </a:rPr>
              <a:t>NPU PLAYGROUND / PROGRESS BRIEF / 09 SEP 2026</a:t>
            </a:r>
          </a:p>
        </p:txBody>
      </p:sp>
      <p:sp>
        <p:nvSpPr>
          <p:cNvPr id="3" name="TextBox 2"/>
          <p:cNvSpPr txBox="1"/>
          <p:nvPr/>
        </p:nvSpPr>
        <p:spPr>
          <a:xfrm>
            <a:off x="594360" y="704088"/>
            <a:ext cx="10972800" cy="621792"/>
          </a:xfrm>
          <a:prstGeom prst="rect">
            <a:avLst/>
          </a:prstGeom>
          <a:noFill/>
        </p:spPr>
        <p:txBody>
          <a:bodyPr wrap="square" lIns="0" rIns="0" tIns="0" bIns="0" anchor="t">
            <a:spAutoFit/>
          </a:bodyPr>
          <a:lstStyle/>
          <a:p>
            <a:pPr>
              <a:lnSpc>
                <a:spcPct val="108000"/>
              </a:lnSpc>
              <a:spcBef>
                <a:spcPts val="0"/>
              </a:spcBef>
              <a:spcAft>
                <a:spcPts val="500"/>
              </a:spcAft>
            </a:pPr>
            <a:r>
              <a:rPr sz="3100" b="1">
                <a:solidFill>
                  <a:srgbClr val="FFFFFF"/>
                </a:solidFill>
                <a:latin typeface="Arial"/>
              </a:rPr>
              <a:t/>
            </a:r>
          </a:p>
        </p:txBody>
      </p:sp>
      <p:sp>
        <p:nvSpPr>
          <p:cNvPr id="4" name="Rectangle 3"/>
          <p:cNvSpPr/>
          <p:nvPr/>
        </p:nvSpPr>
        <p:spPr>
          <a:xfrm>
            <a:off x="594360" y="6419088"/>
            <a:ext cx="10991088" cy="8229"/>
          </a:xfrm>
          <a:prstGeom prst="rect">
            <a:avLst/>
          </a:prstGeom>
          <a:solidFill>
            <a:srgbClr val="3A4C6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94360" y="6519672"/>
            <a:ext cx="10241280" cy="164592"/>
          </a:xfrm>
          <a:prstGeom prst="rect">
            <a:avLst/>
          </a:prstGeom>
          <a:noFill/>
        </p:spPr>
        <p:txBody>
          <a:bodyPr wrap="square" lIns="0" rIns="0" tIns="0" bIns="0" anchor="t">
            <a:spAutoFit/>
          </a:bodyPr>
          <a:lstStyle/>
          <a:p>
            <a:pPr>
              <a:lnSpc>
                <a:spcPct val="108000"/>
              </a:lnSpc>
              <a:spcBef>
                <a:spcPts val="0"/>
              </a:spcBef>
              <a:spcAft>
                <a:spcPts val="500"/>
              </a:spcAft>
            </a:pPr>
            <a:r>
              <a:rPr sz="900" b="0">
                <a:solidFill>
                  <a:srgbClr val="BCCCDD"/>
                </a:solidFill>
                <a:latin typeface="Arial"/>
              </a:rPr>
              <a:t>Sources: E1 historical experiment; E2 current evaluator validation. Full provenance in notes and evidence.json.</a:t>
            </a:r>
          </a:p>
        </p:txBody>
      </p:sp>
      <p:sp>
        <p:nvSpPr>
          <p:cNvPr id="6" name="TextBox 5"/>
          <p:cNvSpPr txBox="1"/>
          <p:nvPr/>
        </p:nvSpPr>
        <p:spPr>
          <a:xfrm>
            <a:off x="11018520" y="6501384"/>
            <a:ext cx="548640" cy="201168"/>
          </a:xfrm>
          <a:prstGeom prst="rect">
            <a:avLst/>
          </a:prstGeom>
          <a:noFill/>
        </p:spPr>
        <p:txBody>
          <a:bodyPr wrap="square" lIns="0" rIns="0" tIns="0" bIns="0" anchor="t">
            <a:spAutoFit/>
          </a:bodyPr>
          <a:lstStyle/>
          <a:p>
            <a:pPr algn="r">
              <a:lnSpc>
                <a:spcPct val="108000"/>
              </a:lnSpc>
              <a:spcBef>
                <a:spcPts val="0"/>
              </a:spcBef>
              <a:spcAft>
                <a:spcPts val="500"/>
              </a:spcAft>
            </a:pPr>
            <a:r>
              <a:rPr sz="1100" b="0">
                <a:solidFill>
                  <a:srgbClr val="BCCCDD"/>
                </a:solidFill>
                <a:latin typeface="Arial"/>
              </a:rPr>
              <a:t>01</a:t>
            </a:r>
          </a:p>
        </p:txBody>
      </p:sp>
      <p:sp>
        <p:nvSpPr>
          <p:cNvPr id="7" name="TextBox 6"/>
          <p:cNvSpPr txBox="1"/>
          <p:nvPr/>
        </p:nvSpPr>
        <p:spPr>
          <a:xfrm>
            <a:off x="594360" y="896112"/>
            <a:ext cx="10698480" cy="1508760"/>
          </a:xfrm>
          <a:prstGeom prst="rect">
            <a:avLst/>
          </a:prstGeom>
          <a:noFill/>
        </p:spPr>
        <p:txBody>
          <a:bodyPr wrap="square" lIns="0" rIns="0" tIns="0" bIns="0" anchor="t">
            <a:spAutoFit/>
          </a:bodyPr>
          <a:lstStyle/>
          <a:p>
            <a:pPr>
              <a:lnSpc>
                <a:spcPct val="108000"/>
              </a:lnSpc>
              <a:spcBef>
                <a:spcPts val="0"/>
              </a:spcBef>
              <a:spcAft>
                <a:spcPts val="500"/>
              </a:spcAft>
            </a:pPr>
            <a:r>
              <a:rPr sz="4000" b="1">
                <a:solidFill>
                  <a:srgbClr val="FFFFFF"/>
                </a:solidFill>
                <a:latin typeface="Arial"/>
              </a:rPr>
              <a:t>From LLM translation</a:t>
            </a:r>
          </a:p>
          <a:p>
            <a:pPr>
              <a:lnSpc>
                <a:spcPct val="108000"/>
              </a:lnSpc>
              <a:spcBef>
                <a:spcPts val="0"/>
              </a:spcBef>
              <a:spcAft>
                <a:spcPts val="500"/>
              </a:spcAft>
            </a:pPr>
            <a:r>
              <a:rPr sz="4000" b="1">
                <a:solidFill>
                  <a:srgbClr val="FFFFFF"/>
                </a:solidFill>
                <a:latin typeface="Arial"/>
              </a:rPr>
              <a:t>to validated NPU kernels</a:t>
            </a:r>
          </a:p>
        </p:txBody>
      </p:sp>
      <p:sp>
        <p:nvSpPr>
          <p:cNvPr id="8" name="TextBox 7"/>
          <p:cNvSpPr txBox="1"/>
          <p:nvPr/>
        </p:nvSpPr>
        <p:spPr>
          <a:xfrm>
            <a:off x="594360" y="2423160"/>
            <a:ext cx="10789920" cy="429768"/>
          </a:xfrm>
          <a:prstGeom prst="rect">
            <a:avLst/>
          </a:prstGeom>
          <a:noFill/>
        </p:spPr>
        <p:txBody>
          <a:bodyPr wrap="square" lIns="0" rIns="0" tIns="0" bIns="0" anchor="t">
            <a:spAutoFit/>
          </a:bodyPr>
          <a:lstStyle/>
          <a:p>
            <a:pPr>
              <a:lnSpc>
                <a:spcPct val="108000"/>
              </a:lnSpc>
              <a:spcBef>
                <a:spcPts val="0"/>
              </a:spcBef>
              <a:spcAft>
                <a:spcPts val="500"/>
              </a:spcAft>
            </a:pPr>
            <a:r>
              <a:rPr sz="2100" b="0">
                <a:solidFill>
                  <a:srgbClr val="BCCCDD"/>
                </a:solidFill>
                <a:latin typeface="Arial"/>
              </a:rPr>
              <a:t>Agentic feedback improves completion; hardware testing is the next milestone.</a:t>
            </a:r>
          </a:p>
        </p:txBody>
      </p:sp>
      <p:sp>
        <p:nvSpPr>
          <p:cNvPr id="9" name="Rounded Rectangle 8"/>
          <p:cNvSpPr/>
          <p:nvPr/>
        </p:nvSpPr>
        <p:spPr>
          <a:xfrm>
            <a:off x="594360" y="3054096"/>
            <a:ext cx="3483864" cy="2596896"/>
          </a:xfrm>
          <a:prstGeom prst="roundRect">
            <a:avLst>
              <a:gd name="adj" fmla="val 6000"/>
            </a:avLst>
          </a:prstGeom>
          <a:solidFill>
            <a:srgbClr val="1C334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04672" y="3273552"/>
            <a:ext cx="3063240" cy="219456"/>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7FA7FF"/>
                </a:solidFill>
                <a:latin typeface="Arial"/>
              </a:rPr>
              <a:t>01 / TRANSLATION</a:t>
            </a:r>
          </a:p>
        </p:txBody>
      </p:sp>
      <p:sp>
        <p:nvSpPr>
          <p:cNvPr id="11" name="TextBox 10"/>
          <p:cNvSpPr txBox="1"/>
          <p:nvPr/>
        </p:nvSpPr>
        <p:spPr>
          <a:xfrm>
            <a:off x="804672" y="3703320"/>
            <a:ext cx="3063240" cy="612648"/>
          </a:xfrm>
          <a:prstGeom prst="rect">
            <a:avLst/>
          </a:prstGeom>
          <a:noFill/>
        </p:spPr>
        <p:txBody>
          <a:bodyPr wrap="square" lIns="0" rIns="0" tIns="0" bIns="0" anchor="t">
            <a:spAutoFit/>
          </a:bodyPr>
          <a:lstStyle/>
          <a:p>
            <a:pPr>
              <a:lnSpc>
                <a:spcPct val="108000"/>
              </a:lnSpc>
              <a:spcBef>
                <a:spcPts val="0"/>
              </a:spcBef>
              <a:spcAft>
                <a:spcPts val="500"/>
              </a:spcAft>
            </a:pPr>
            <a:r>
              <a:rPr sz="3700" b="1">
                <a:solidFill>
                  <a:srgbClr val="FFFFFF"/>
                </a:solidFill>
                <a:latin typeface="Arial"/>
              </a:rPr>
              <a:t>70% → 95%</a:t>
            </a:r>
          </a:p>
        </p:txBody>
      </p:sp>
      <p:sp>
        <p:nvSpPr>
          <p:cNvPr id="12" name="TextBox 11"/>
          <p:cNvSpPr txBox="1"/>
          <p:nvPr/>
        </p:nvSpPr>
        <p:spPr>
          <a:xfrm>
            <a:off x="804672" y="4489704"/>
            <a:ext cx="3063240" cy="457200"/>
          </a:xfrm>
          <a:prstGeom prst="rect">
            <a:avLst/>
          </a:prstGeom>
          <a:noFill/>
        </p:spPr>
        <p:txBody>
          <a:bodyPr wrap="square" lIns="0" rIns="0" tIns="0" bIns="0" anchor="t">
            <a:spAutoFit/>
          </a:bodyPr>
          <a:lstStyle/>
          <a:p>
            <a:pPr>
              <a:lnSpc>
                <a:spcPct val="108000"/>
              </a:lnSpc>
              <a:spcBef>
                <a:spcPts val="0"/>
              </a:spcBef>
              <a:spcAft>
                <a:spcPts val="500"/>
              </a:spcAft>
            </a:pPr>
            <a:r>
              <a:rPr sz="1700" b="1">
                <a:solidFill>
                  <a:srgbClr val="FFFFFF"/>
                </a:solidFill>
                <a:latin typeface="Arial"/>
              </a:rPr>
              <a:t>Historical task completion</a:t>
            </a:r>
          </a:p>
        </p:txBody>
      </p:sp>
      <p:sp>
        <p:nvSpPr>
          <p:cNvPr id="13" name="TextBox 12"/>
          <p:cNvSpPr txBox="1"/>
          <p:nvPr/>
        </p:nvSpPr>
        <p:spPr>
          <a:xfrm>
            <a:off x="804672" y="5010912"/>
            <a:ext cx="3063240" cy="566928"/>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BCCCDD"/>
                </a:solidFill>
                <a:latin typeface="Arial"/>
              </a:rPr>
              <a:t>One-shot → agentic</a:t>
            </a:r>
          </a:p>
          <a:p>
            <a:pPr>
              <a:lnSpc>
                <a:spcPct val="108000"/>
              </a:lnSpc>
              <a:spcBef>
                <a:spcPts val="0"/>
              </a:spcBef>
              <a:spcAft>
                <a:spcPts val="500"/>
              </a:spcAft>
            </a:pPr>
            <a:r>
              <a:rPr sz="1400" b="0">
                <a:solidFill>
                  <a:srgbClr val="BCCCDD"/>
                </a:solidFill>
                <a:latin typeface="Arial"/>
              </a:rPr>
              <a:t>14/20 → 19/20 cases</a:t>
            </a:r>
          </a:p>
        </p:txBody>
      </p:sp>
      <p:sp>
        <p:nvSpPr>
          <p:cNvPr id="14" name="Rounded Rectangle 13"/>
          <p:cNvSpPr/>
          <p:nvPr/>
        </p:nvSpPr>
        <p:spPr>
          <a:xfrm>
            <a:off x="4352544" y="3054096"/>
            <a:ext cx="3483864" cy="2596896"/>
          </a:xfrm>
          <a:prstGeom prst="roundRect">
            <a:avLst>
              <a:gd name="adj" fmla="val 6000"/>
            </a:avLst>
          </a:prstGeom>
          <a:solidFill>
            <a:srgbClr val="1C334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62856" y="3273552"/>
            <a:ext cx="3063240" cy="219456"/>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5BD5C4"/>
                </a:solidFill>
                <a:latin typeface="Arial"/>
              </a:rPr>
              <a:t>02 / CORRECTNESS</a:t>
            </a:r>
          </a:p>
        </p:txBody>
      </p:sp>
      <p:sp>
        <p:nvSpPr>
          <p:cNvPr id="16" name="TextBox 15"/>
          <p:cNvSpPr txBox="1"/>
          <p:nvPr/>
        </p:nvSpPr>
        <p:spPr>
          <a:xfrm>
            <a:off x="4562856" y="3703320"/>
            <a:ext cx="3063240" cy="612648"/>
          </a:xfrm>
          <a:prstGeom prst="rect">
            <a:avLst/>
          </a:prstGeom>
          <a:noFill/>
        </p:spPr>
        <p:txBody>
          <a:bodyPr wrap="square" lIns="0" rIns="0" tIns="0" bIns="0" anchor="t">
            <a:spAutoFit/>
          </a:bodyPr>
          <a:lstStyle/>
          <a:p>
            <a:pPr>
              <a:lnSpc>
                <a:spcPct val="108000"/>
              </a:lnSpc>
              <a:spcBef>
                <a:spcPts val="0"/>
              </a:spcBef>
              <a:spcAft>
                <a:spcPts val="500"/>
              </a:spcAft>
            </a:pPr>
            <a:r>
              <a:rPr sz="3700" b="1">
                <a:solidFill>
                  <a:srgbClr val="FFFFFF"/>
                </a:solidFill>
                <a:latin typeface="Arial"/>
              </a:rPr>
              <a:t>22/22</a:t>
            </a:r>
          </a:p>
        </p:txBody>
      </p:sp>
      <p:sp>
        <p:nvSpPr>
          <p:cNvPr id="17" name="TextBox 16"/>
          <p:cNvSpPr txBox="1"/>
          <p:nvPr/>
        </p:nvSpPr>
        <p:spPr>
          <a:xfrm>
            <a:off x="4562856" y="4489704"/>
            <a:ext cx="3063240" cy="457200"/>
          </a:xfrm>
          <a:prstGeom prst="rect">
            <a:avLst/>
          </a:prstGeom>
          <a:noFill/>
        </p:spPr>
        <p:txBody>
          <a:bodyPr wrap="square" lIns="0" rIns="0" tIns="0" bIns="0" anchor="t">
            <a:spAutoFit/>
          </a:bodyPr>
          <a:lstStyle/>
          <a:p>
            <a:pPr>
              <a:lnSpc>
                <a:spcPct val="108000"/>
              </a:lnSpc>
              <a:spcBef>
                <a:spcPts val="0"/>
              </a:spcBef>
              <a:spcAft>
                <a:spcPts val="500"/>
              </a:spcAft>
            </a:pPr>
            <a:r>
              <a:rPr sz="1700" b="1">
                <a:solidFill>
                  <a:srgbClr val="FFFFFF"/>
                </a:solidFill>
                <a:latin typeface="Arial"/>
              </a:rPr>
              <a:t>Current offline checks pass</a:t>
            </a:r>
          </a:p>
        </p:txBody>
      </p:sp>
      <p:sp>
        <p:nvSpPr>
          <p:cNvPr id="18" name="TextBox 17"/>
          <p:cNvSpPr txBox="1"/>
          <p:nvPr/>
        </p:nvSpPr>
        <p:spPr>
          <a:xfrm>
            <a:off x="4562856" y="5010912"/>
            <a:ext cx="3063240" cy="566928"/>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BCCCDD"/>
                </a:solidFill>
                <a:latin typeface="Arial"/>
              </a:rPr>
              <a:t>Deterministic candidates</a:t>
            </a:r>
          </a:p>
          <a:p>
            <a:pPr>
              <a:lnSpc>
                <a:spcPct val="108000"/>
              </a:lnSpc>
              <a:spcBef>
                <a:spcPts val="0"/>
              </a:spcBef>
              <a:spcAft>
                <a:spcPts val="500"/>
              </a:spcAft>
            </a:pPr>
            <a:r>
              <a:rPr sz="1400" b="0">
                <a:solidFill>
                  <a:srgbClr val="BCCCDD"/>
                </a:solidFill>
                <a:latin typeface="Arial"/>
              </a:rPr>
              <a:t>264 host input cases</a:t>
            </a:r>
          </a:p>
        </p:txBody>
      </p:sp>
      <p:sp>
        <p:nvSpPr>
          <p:cNvPr id="19" name="Rounded Rectangle 18"/>
          <p:cNvSpPr/>
          <p:nvPr/>
        </p:nvSpPr>
        <p:spPr>
          <a:xfrm>
            <a:off x="8110727" y="3054096"/>
            <a:ext cx="3483864" cy="2596896"/>
          </a:xfrm>
          <a:prstGeom prst="roundRect">
            <a:avLst>
              <a:gd name="adj" fmla="val 6000"/>
            </a:avLst>
          </a:prstGeom>
          <a:solidFill>
            <a:srgbClr val="1C334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321040" y="3273552"/>
            <a:ext cx="3063240" cy="219456"/>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F4BD69"/>
                </a:solidFill>
                <a:latin typeface="Arial"/>
              </a:rPr>
              <a:t>03 / HARDWARE</a:t>
            </a:r>
          </a:p>
        </p:txBody>
      </p:sp>
      <p:sp>
        <p:nvSpPr>
          <p:cNvPr id="21" name="TextBox 20"/>
          <p:cNvSpPr txBox="1"/>
          <p:nvPr/>
        </p:nvSpPr>
        <p:spPr>
          <a:xfrm>
            <a:off x="8321040" y="3703320"/>
            <a:ext cx="3063240" cy="612648"/>
          </a:xfrm>
          <a:prstGeom prst="rect">
            <a:avLst/>
          </a:prstGeom>
          <a:noFill/>
        </p:spPr>
        <p:txBody>
          <a:bodyPr wrap="square" lIns="0" rIns="0" tIns="0" bIns="0" anchor="t">
            <a:spAutoFit/>
          </a:bodyPr>
          <a:lstStyle/>
          <a:p>
            <a:pPr>
              <a:lnSpc>
                <a:spcPct val="108000"/>
              </a:lnSpc>
              <a:spcBef>
                <a:spcPts val="0"/>
              </a:spcBef>
              <a:spcAft>
                <a:spcPts val="500"/>
              </a:spcAft>
            </a:pPr>
            <a:r>
              <a:rPr sz="3700" b="1">
                <a:solidFill>
                  <a:srgbClr val="FFFFFF"/>
                </a:solidFill>
                <a:latin typeface="Arial"/>
              </a:rPr>
              <a:t>0 runs</a:t>
            </a:r>
          </a:p>
        </p:txBody>
      </p:sp>
      <p:sp>
        <p:nvSpPr>
          <p:cNvPr id="22" name="TextBox 21"/>
          <p:cNvSpPr txBox="1"/>
          <p:nvPr/>
        </p:nvSpPr>
        <p:spPr>
          <a:xfrm>
            <a:off x="8321040" y="4489704"/>
            <a:ext cx="3063240" cy="457200"/>
          </a:xfrm>
          <a:prstGeom prst="rect">
            <a:avLst/>
          </a:prstGeom>
          <a:noFill/>
        </p:spPr>
        <p:txBody>
          <a:bodyPr wrap="square" lIns="0" rIns="0" tIns="0" bIns="0" anchor="t">
            <a:spAutoFit/>
          </a:bodyPr>
          <a:lstStyle/>
          <a:p>
            <a:pPr>
              <a:lnSpc>
                <a:spcPct val="108000"/>
              </a:lnSpc>
              <a:spcBef>
                <a:spcPts val="0"/>
              </a:spcBef>
              <a:spcAft>
                <a:spcPts val="500"/>
              </a:spcAft>
            </a:pPr>
            <a:r>
              <a:rPr sz="1700" b="1">
                <a:solidFill>
                  <a:srgbClr val="FFFFFF"/>
                </a:solidFill>
                <a:latin typeface="Arial"/>
              </a:rPr>
              <a:t>NPU execution blocked</a:t>
            </a:r>
          </a:p>
        </p:txBody>
      </p:sp>
      <p:sp>
        <p:nvSpPr>
          <p:cNvPr id="23" name="TextBox 22"/>
          <p:cNvSpPr txBox="1"/>
          <p:nvPr/>
        </p:nvSpPr>
        <p:spPr>
          <a:xfrm>
            <a:off x="8321040" y="5010912"/>
            <a:ext cx="3063240" cy="566928"/>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BCCCDD"/>
                </a:solidFill>
                <a:latin typeface="Arial"/>
              </a:rPr>
              <a:t>Latency and power</a:t>
            </a:r>
          </a:p>
          <a:p>
            <a:pPr>
              <a:lnSpc>
                <a:spcPct val="108000"/>
              </a:lnSpc>
              <a:spcBef>
                <a:spcPts val="0"/>
              </a:spcBef>
              <a:spcAft>
                <a:spcPts val="500"/>
              </a:spcAft>
            </a:pPr>
            <a:r>
              <a:rPr sz="1400" b="0">
                <a:solidFill>
                  <a:srgbClr val="BCCCDD"/>
                </a:solidFill>
                <a:latin typeface="Arial"/>
              </a:rPr>
              <a:t>are unmeasured</a:t>
            </a:r>
          </a:p>
        </p:txBody>
      </p:sp>
      <p:sp>
        <p:nvSpPr>
          <p:cNvPr id="24" name="TextBox 23"/>
          <p:cNvSpPr txBox="1"/>
          <p:nvPr/>
        </p:nvSpPr>
        <p:spPr>
          <a:xfrm>
            <a:off x="594360" y="5879592"/>
            <a:ext cx="10972800" cy="320040"/>
          </a:xfrm>
          <a:prstGeom prst="rect">
            <a:avLst/>
          </a:prstGeom>
          <a:noFill/>
        </p:spPr>
        <p:txBody>
          <a:bodyPr wrap="square" lIns="0" rIns="0" tIns="0" bIns="0" anchor="t">
            <a:spAutoFit/>
          </a:bodyPr>
          <a:lstStyle/>
          <a:p>
            <a:pPr>
              <a:lnSpc>
                <a:spcPct val="108000"/>
              </a:lnSpc>
              <a:spcBef>
                <a:spcPts val="0"/>
              </a:spcBef>
              <a:spcAft>
                <a:spcPts val="500"/>
              </a:spcAft>
            </a:pPr>
            <a:r>
              <a:rPr sz="1500" b="0">
                <a:solidFill>
                  <a:srgbClr val="BCCCDD"/>
                </a:solidFill>
                <a:latin typeface="Arial"/>
              </a:rPr>
              <a:t>Different evidence sets: the 22-case evaluator suite is not a rerun of the historical LLM comparison.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789920" cy="210312"/>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008778"/>
                </a:solidFill>
                <a:latin typeface="Arial"/>
              </a:rPr>
              <a:t>01 / HISTORICAL LLM EXPERIMENT</a:t>
            </a:r>
          </a:p>
        </p:txBody>
      </p:sp>
      <p:sp>
        <p:nvSpPr>
          <p:cNvPr id="3" name="TextBox 2"/>
          <p:cNvSpPr txBox="1"/>
          <p:nvPr/>
        </p:nvSpPr>
        <p:spPr>
          <a:xfrm>
            <a:off x="594360" y="704088"/>
            <a:ext cx="10972800" cy="621792"/>
          </a:xfrm>
          <a:prstGeom prst="rect">
            <a:avLst/>
          </a:prstGeom>
          <a:noFill/>
        </p:spPr>
        <p:txBody>
          <a:bodyPr wrap="square" lIns="0" rIns="0" tIns="0" bIns="0" anchor="t">
            <a:spAutoFit/>
          </a:bodyPr>
          <a:lstStyle/>
          <a:p>
            <a:pPr>
              <a:lnSpc>
                <a:spcPct val="108000"/>
              </a:lnSpc>
              <a:spcBef>
                <a:spcPts val="0"/>
              </a:spcBef>
              <a:spcAft>
                <a:spcPts val="500"/>
              </a:spcAft>
            </a:pPr>
            <a:r>
              <a:rPr sz="3100" b="1">
                <a:solidFill>
                  <a:srgbClr val="142B40"/>
                </a:solidFill>
                <a:latin typeface="Arial"/>
              </a:rPr>
              <a:t>One-shot translation is not reliable enough</a:t>
            </a:r>
          </a:p>
        </p:txBody>
      </p:sp>
      <p:sp>
        <p:nvSpPr>
          <p:cNvPr id="4" name="TextBox 3"/>
          <p:cNvSpPr txBox="1"/>
          <p:nvPr/>
        </p:nvSpPr>
        <p:spPr>
          <a:xfrm>
            <a:off x="594360" y="1344168"/>
            <a:ext cx="10972800" cy="475488"/>
          </a:xfrm>
          <a:prstGeom prst="rect">
            <a:avLst/>
          </a:prstGeom>
          <a:noFill/>
        </p:spPr>
        <p:txBody>
          <a:bodyPr wrap="square" lIns="0" rIns="0" tIns="0" bIns="0" anchor="t">
            <a:spAutoFit/>
          </a:bodyPr>
          <a:lstStyle/>
          <a:p>
            <a:pPr>
              <a:lnSpc>
                <a:spcPct val="108000"/>
              </a:lnSpc>
              <a:spcBef>
                <a:spcPts val="0"/>
              </a:spcBef>
              <a:spcAft>
                <a:spcPts val="500"/>
              </a:spcAft>
            </a:pPr>
            <a:r>
              <a:rPr sz="1700" b="0">
                <a:solidFill>
                  <a:srgbClr val="546579"/>
                </a:solidFill>
                <a:latin typeface="Arial"/>
              </a:rPr>
              <a:t>10 kernels × 2 NPU targets; one model call and one compile attempt per task.</a:t>
            </a:r>
          </a:p>
        </p:txBody>
      </p:sp>
      <p:sp>
        <p:nvSpPr>
          <p:cNvPr id="5" name="Rectangle 4"/>
          <p:cNvSpPr/>
          <p:nvPr/>
        </p:nvSpPr>
        <p:spPr>
          <a:xfrm>
            <a:off x="594360" y="6419088"/>
            <a:ext cx="10991088" cy="8229"/>
          </a:xfrm>
          <a:prstGeom prst="rect">
            <a:avLst/>
          </a:prstGeom>
          <a:solidFill>
            <a:srgbClr val="DFE6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94360" y="6519672"/>
            <a:ext cx="10241280" cy="164592"/>
          </a:xfrm>
          <a:prstGeom prst="rect">
            <a:avLst/>
          </a:prstGeom>
          <a:noFill/>
        </p:spPr>
        <p:txBody>
          <a:bodyPr wrap="square" lIns="0" rIns="0" tIns="0" bIns="0" anchor="t">
            <a:spAutoFit/>
          </a:bodyPr>
          <a:lstStyle/>
          <a:p>
            <a:pPr>
              <a:lnSpc>
                <a:spcPct val="108000"/>
              </a:lnSpc>
              <a:spcBef>
                <a:spcPts val="0"/>
              </a:spcBef>
              <a:spcAft>
                <a:spcPts val="500"/>
              </a:spcAft>
            </a:pPr>
            <a:r>
              <a:rPr sz="900" b="0">
                <a:solidFill>
                  <a:srgbClr val="546579"/>
                </a:solidFill>
                <a:latin typeface="Arial"/>
              </a:rPr>
              <a:t>Source: E1 • Completed 04 Sep 2026 UTC • Codex CLI 0.144.5 • Model setting recorded as ‘CLI default’.</a:t>
            </a:r>
          </a:p>
        </p:txBody>
      </p:sp>
      <p:sp>
        <p:nvSpPr>
          <p:cNvPr id="7" name="TextBox 6"/>
          <p:cNvSpPr txBox="1"/>
          <p:nvPr/>
        </p:nvSpPr>
        <p:spPr>
          <a:xfrm>
            <a:off x="11018520" y="6501384"/>
            <a:ext cx="548640" cy="201168"/>
          </a:xfrm>
          <a:prstGeom prst="rect">
            <a:avLst/>
          </a:prstGeom>
          <a:noFill/>
        </p:spPr>
        <p:txBody>
          <a:bodyPr wrap="square" lIns="0" rIns="0" tIns="0" bIns="0" anchor="t">
            <a:spAutoFit/>
          </a:bodyPr>
          <a:lstStyle/>
          <a:p>
            <a:pPr algn="r">
              <a:lnSpc>
                <a:spcPct val="108000"/>
              </a:lnSpc>
              <a:spcBef>
                <a:spcPts val="0"/>
              </a:spcBef>
              <a:spcAft>
                <a:spcPts val="500"/>
              </a:spcAft>
            </a:pPr>
            <a:r>
              <a:rPr sz="1100" b="0">
                <a:solidFill>
                  <a:srgbClr val="546579"/>
                </a:solidFill>
                <a:latin typeface="Arial"/>
              </a:rPr>
              <a:t>02</a:t>
            </a:r>
          </a:p>
        </p:txBody>
      </p:sp>
      <p:sp>
        <p:nvSpPr>
          <p:cNvPr id="8" name="TextBox 7"/>
          <p:cNvSpPr txBox="1"/>
          <p:nvPr/>
        </p:nvSpPr>
        <p:spPr>
          <a:xfrm>
            <a:off x="594360" y="1956816"/>
            <a:ext cx="4663440" cy="274320"/>
          </a:xfrm>
          <a:prstGeom prst="rect">
            <a:avLst/>
          </a:prstGeom>
          <a:noFill/>
        </p:spPr>
        <p:txBody>
          <a:bodyPr wrap="square" lIns="0" rIns="0" tIns="0" bIns="0" anchor="t">
            <a:spAutoFit/>
          </a:bodyPr>
          <a:lstStyle/>
          <a:p>
            <a:pPr>
              <a:lnSpc>
                <a:spcPct val="108000"/>
              </a:lnSpc>
              <a:spcBef>
                <a:spcPts val="0"/>
              </a:spcBef>
              <a:spcAft>
                <a:spcPts val="500"/>
              </a:spcAft>
            </a:pPr>
            <a:r>
              <a:rPr sz="1200" b="1">
                <a:solidFill>
                  <a:srgbClr val="546579"/>
                </a:solidFill>
                <a:latin typeface="Arial"/>
              </a:rPr>
              <a:t>KERNEL</a:t>
            </a:r>
          </a:p>
        </p:txBody>
      </p:sp>
      <p:sp>
        <p:nvSpPr>
          <p:cNvPr id="9" name="TextBox 8"/>
          <p:cNvSpPr txBox="1"/>
          <p:nvPr/>
        </p:nvSpPr>
        <p:spPr>
          <a:xfrm>
            <a:off x="5212080" y="1929384"/>
            <a:ext cx="1051560" cy="310896"/>
          </a:xfrm>
          <a:prstGeom prst="rect">
            <a:avLst/>
          </a:prstGeom>
          <a:noFill/>
        </p:spPr>
        <p:txBody>
          <a:bodyPr wrap="square" lIns="0" rIns="0" tIns="0" bIns="0" anchor="t">
            <a:spAutoFit/>
          </a:bodyPr>
          <a:lstStyle/>
          <a:p>
            <a:pPr algn="ctr">
              <a:lnSpc>
                <a:spcPct val="108000"/>
              </a:lnSpc>
              <a:spcBef>
                <a:spcPts val="0"/>
              </a:spcBef>
              <a:spcAft>
                <a:spcPts val="500"/>
              </a:spcAft>
            </a:pPr>
            <a:r>
              <a:rPr sz="1400" b="1">
                <a:solidFill>
                  <a:srgbClr val="142B40"/>
                </a:solidFill>
                <a:latin typeface="Arial"/>
              </a:rPr>
              <a:t>AMD</a:t>
            </a:r>
          </a:p>
        </p:txBody>
      </p:sp>
      <p:sp>
        <p:nvSpPr>
          <p:cNvPr id="10" name="TextBox 9"/>
          <p:cNvSpPr txBox="1"/>
          <p:nvPr/>
        </p:nvSpPr>
        <p:spPr>
          <a:xfrm>
            <a:off x="6400800" y="1929384"/>
            <a:ext cx="1051560" cy="310896"/>
          </a:xfrm>
          <a:prstGeom prst="rect">
            <a:avLst/>
          </a:prstGeom>
          <a:noFill/>
        </p:spPr>
        <p:txBody>
          <a:bodyPr wrap="square" lIns="0" rIns="0" tIns="0" bIns="0" anchor="t">
            <a:spAutoFit/>
          </a:bodyPr>
          <a:lstStyle/>
          <a:p>
            <a:pPr algn="ctr">
              <a:lnSpc>
                <a:spcPct val="108000"/>
              </a:lnSpc>
              <a:spcBef>
                <a:spcPts val="0"/>
              </a:spcBef>
              <a:spcAft>
                <a:spcPts val="500"/>
              </a:spcAft>
            </a:pPr>
            <a:r>
              <a:rPr sz="1400" b="1">
                <a:solidFill>
                  <a:srgbClr val="142B40"/>
                </a:solidFill>
                <a:latin typeface="Arial"/>
              </a:rPr>
              <a:t>Intel</a:t>
            </a:r>
          </a:p>
        </p:txBody>
      </p:sp>
      <p:sp>
        <p:nvSpPr>
          <p:cNvPr id="11" name="Rectangle 10"/>
          <p:cNvSpPr/>
          <p:nvPr/>
        </p:nvSpPr>
        <p:spPr>
          <a:xfrm>
            <a:off x="594360" y="2308860"/>
            <a:ext cx="7004304" cy="307238"/>
          </a:xfrm>
          <a:prstGeom prst="rect">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31520" y="2340864"/>
            <a:ext cx="4251960" cy="256032"/>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142B40"/>
                </a:solidFill>
                <a:latin typeface="Arial"/>
              </a:rPr>
              <a:t>CUDA · Reduce sum</a:t>
            </a:r>
          </a:p>
        </p:txBody>
      </p:sp>
      <p:sp>
        <p:nvSpPr>
          <p:cNvPr id="13" name="Rounded Rectangle 12"/>
          <p:cNvSpPr/>
          <p:nvPr/>
        </p:nvSpPr>
        <p:spPr>
          <a:xfrm>
            <a:off x="5212080" y="2336292"/>
            <a:ext cx="1051560" cy="25603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212080" y="2351836"/>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008778"/>
                </a:solidFill>
                <a:latin typeface="Arial"/>
              </a:rPr>
              <a:t>PASS</a:t>
            </a:r>
          </a:p>
        </p:txBody>
      </p:sp>
      <p:sp>
        <p:nvSpPr>
          <p:cNvPr id="15" name="Rounded Rectangle 14"/>
          <p:cNvSpPr/>
          <p:nvPr/>
        </p:nvSpPr>
        <p:spPr>
          <a:xfrm>
            <a:off x="6400800" y="2336292"/>
            <a:ext cx="1051560" cy="25603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400800" y="2351836"/>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008778"/>
                </a:solidFill>
                <a:latin typeface="Arial"/>
              </a:rPr>
              <a:t>PASS</a:t>
            </a:r>
          </a:p>
        </p:txBody>
      </p:sp>
      <p:sp>
        <p:nvSpPr>
          <p:cNvPr id="17" name="Rectangle 16"/>
          <p:cNvSpPr/>
          <p:nvPr/>
        </p:nvSpPr>
        <p:spPr>
          <a:xfrm>
            <a:off x="594360" y="2625242"/>
            <a:ext cx="7004304" cy="30723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31520" y="2657246"/>
            <a:ext cx="4251960" cy="256032"/>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142B40"/>
                </a:solidFill>
                <a:latin typeface="Arial"/>
              </a:rPr>
              <a:t>CUDA · Tiled matrix multiply</a:t>
            </a:r>
          </a:p>
        </p:txBody>
      </p:sp>
      <p:sp>
        <p:nvSpPr>
          <p:cNvPr id="19" name="Rounded Rectangle 18"/>
          <p:cNvSpPr/>
          <p:nvPr/>
        </p:nvSpPr>
        <p:spPr>
          <a:xfrm>
            <a:off x="5212080" y="2652674"/>
            <a:ext cx="1051560" cy="25603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212080" y="2668219"/>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008778"/>
                </a:solidFill>
                <a:latin typeface="Arial"/>
              </a:rPr>
              <a:t>PASS</a:t>
            </a:r>
          </a:p>
        </p:txBody>
      </p:sp>
      <p:sp>
        <p:nvSpPr>
          <p:cNvPr id="21" name="Rounded Rectangle 20"/>
          <p:cNvSpPr/>
          <p:nvPr/>
        </p:nvSpPr>
        <p:spPr>
          <a:xfrm>
            <a:off x="6400800" y="2652674"/>
            <a:ext cx="1051560" cy="25603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00800" y="2668219"/>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008778"/>
                </a:solidFill>
                <a:latin typeface="Arial"/>
              </a:rPr>
              <a:t>PASS</a:t>
            </a:r>
          </a:p>
        </p:txBody>
      </p:sp>
      <p:sp>
        <p:nvSpPr>
          <p:cNvPr id="23" name="Rectangle 22"/>
          <p:cNvSpPr/>
          <p:nvPr/>
        </p:nvSpPr>
        <p:spPr>
          <a:xfrm>
            <a:off x="594360" y="2941624"/>
            <a:ext cx="7004304" cy="307238"/>
          </a:xfrm>
          <a:prstGeom prst="rect">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31520" y="2973628"/>
            <a:ext cx="4251960" cy="256032"/>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142B40"/>
                </a:solidFill>
                <a:latin typeface="Arial"/>
              </a:rPr>
              <a:t>CUDA · Tiled transpose</a:t>
            </a:r>
          </a:p>
        </p:txBody>
      </p:sp>
      <p:sp>
        <p:nvSpPr>
          <p:cNvPr id="25" name="Rounded Rectangle 24"/>
          <p:cNvSpPr/>
          <p:nvPr/>
        </p:nvSpPr>
        <p:spPr>
          <a:xfrm>
            <a:off x="5212080" y="2969056"/>
            <a:ext cx="1051560" cy="25603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212080" y="2984601"/>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008778"/>
                </a:solidFill>
                <a:latin typeface="Arial"/>
              </a:rPr>
              <a:t>PASS</a:t>
            </a:r>
          </a:p>
        </p:txBody>
      </p:sp>
      <p:sp>
        <p:nvSpPr>
          <p:cNvPr id="27" name="Rounded Rectangle 26"/>
          <p:cNvSpPr/>
          <p:nvPr/>
        </p:nvSpPr>
        <p:spPr>
          <a:xfrm>
            <a:off x="6400800" y="2969056"/>
            <a:ext cx="1051560" cy="25603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400800" y="2984601"/>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008778"/>
                </a:solidFill>
                <a:latin typeface="Arial"/>
              </a:rPr>
              <a:t>PASS</a:t>
            </a:r>
          </a:p>
        </p:txBody>
      </p:sp>
      <p:sp>
        <p:nvSpPr>
          <p:cNvPr id="29" name="Rectangle 28"/>
          <p:cNvSpPr/>
          <p:nvPr/>
        </p:nvSpPr>
        <p:spPr>
          <a:xfrm>
            <a:off x="594360" y="3258007"/>
            <a:ext cx="7004304" cy="30723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31520" y="3290011"/>
            <a:ext cx="4251960" cy="256032"/>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142B40"/>
                </a:solidFill>
                <a:latin typeface="Arial"/>
              </a:rPr>
              <a:t>CUDA · Vector add</a:t>
            </a:r>
          </a:p>
        </p:txBody>
      </p:sp>
      <p:sp>
        <p:nvSpPr>
          <p:cNvPr id="31" name="Rounded Rectangle 30"/>
          <p:cNvSpPr/>
          <p:nvPr/>
        </p:nvSpPr>
        <p:spPr>
          <a:xfrm>
            <a:off x="5212080" y="3285439"/>
            <a:ext cx="1051560" cy="256032"/>
          </a:xfrm>
          <a:prstGeom prst="roundRect">
            <a:avLst>
              <a:gd name="adj" fmla="val 6000"/>
            </a:avLst>
          </a:prstGeom>
          <a:solidFill>
            <a:srgbClr val="FCEC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212080" y="3300984"/>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B34746"/>
                </a:solidFill>
                <a:latin typeface="Arial"/>
              </a:rPr>
              <a:t>FAIL</a:t>
            </a:r>
          </a:p>
        </p:txBody>
      </p:sp>
      <p:sp>
        <p:nvSpPr>
          <p:cNvPr id="33" name="Rounded Rectangle 32"/>
          <p:cNvSpPr/>
          <p:nvPr/>
        </p:nvSpPr>
        <p:spPr>
          <a:xfrm>
            <a:off x="6400800" y="3285439"/>
            <a:ext cx="1051560" cy="25603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00800" y="3300984"/>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008778"/>
                </a:solidFill>
                <a:latin typeface="Arial"/>
              </a:rPr>
              <a:t>PASS</a:t>
            </a:r>
          </a:p>
        </p:txBody>
      </p:sp>
      <p:sp>
        <p:nvSpPr>
          <p:cNvPr id="35" name="Rectangle 34"/>
          <p:cNvSpPr/>
          <p:nvPr/>
        </p:nvSpPr>
        <p:spPr>
          <a:xfrm>
            <a:off x="594360" y="3574389"/>
            <a:ext cx="7004304" cy="307238"/>
          </a:xfrm>
          <a:prstGeom prst="rect">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731520" y="3606393"/>
            <a:ext cx="4251960" cy="256032"/>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142B40"/>
                </a:solidFill>
                <a:latin typeface="Arial"/>
              </a:rPr>
              <a:t>HIP · Gamma correction</a:t>
            </a:r>
          </a:p>
        </p:txBody>
      </p:sp>
      <p:sp>
        <p:nvSpPr>
          <p:cNvPr id="37" name="Rounded Rectangle 36"/>
          <p:cNvSpPr/>
          <p:nvPr/>
        </p:nvSpPr>
        <p:spPr>
          <a:xfrm>
            <a:off x="5212080" y="3601821"/>
            <a:ext cx="1051560" cy="25603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212080" y="3617366"/>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008778"/>
                </a:solidFill>
                <a:latin typeface="Arial"/>
              </a:rPr>
              <a:t>PASS</a:t>
            </a:r>
          </a:p>
        </p:txBody>
      </p:sp>
      <p:sp>
        <p:nvSpPr>
          <p:cNvPr id="39" name="Rounded Rectangle 38"/>
          <p:cNvSpPr/>
          <p:nvPr/>
        </p:nvSpPr>
        <p:spPr>
          <a:xfrm>
            <a:off x="6400800" y="3601821"/>
            <a:ext cx="1051560" cy="25603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6400800" y="3617366"/>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008778"/>
                </a:solidFill>
                <a:latin typeface="Arial"/>
              </a:rPr>
              <a:t>PASS</a:t>
            </a:r>
          </a:p>
        </p:txBody>
      </p:sp>
      <p:sp>
        <p:nvSpPr>
          <p:cNvPr id="41" name="Rectangle 40"/>
          <p:cNvSpPr/>
          <p:nvPr/>
        </p:nvSpPr>
        <p:spPr>
          <a:xfrm>
            <a:off x="594360" y="3890772"/>
            <a:ext cx="7004304" cy="30723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731520" y="3922776"/>
            <a:ext cx="4251960" cy="256032"/>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142B40"/>
                </a:solidFill>
                <a:latin typeface="Arial"/>
              </a:rPr>
              <a:t>HIP · Image convolution</a:t>
            </a:r>
          </a:p>
        </p:txBody>
      </p:sp>
      <p:sp>
        <p:nvSpPr>
          <p:cNvPr id="43" name="Rounded Rectangle 42"/>
          <p:cNvSpPr/>
          <p:nvPr/>
        </p:nvSpPr>
        <p:spPr>
          <a:xfrm>
            <a:off x="5212080" y="3918204"/>
            <a:ext cx="1051560" cy="25603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212080" y="3933748"/>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008778"/>
                </a:solidFill>
                <a:latin typeface="Arial"/>
              </a:rPr>
              <a:t>PASS</a:t>
            </a:r>
          </a:p>
        </p:txBody>
      </p:sp>
      <p:sp>
        <p:nvSpPr>
          <p:cNvPr id="45" name="Rounded Rectangle 44"/>
          <p:cNvSpPr/>
          <p:nvPr/>
        </p:nvSpPr>
        <p:spPr>
          <a:xfrm>
            <a:off x="6400800" y="3918204"/>
            <a:ext cx="1051560" cy="256032"/>
          </a:xfrm>
          <a:prstGeom prst="roundRect">
            <a:avLst>
              <a:gd name="adj" fmla="val 6000"/>
            </a:avLst>
          </a:prstGeom>
          <a:solidFill>
            <a:srgbClr val="FCEC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6400800" y="3933748"/>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B34746"/>
                </a:solidFill>
                <a:latin typeface="Arial"/>
              </a:rPr>
              <a:t>FAIL</a:t>
            </a:r>
          </a:p>
        </p:txBody>
      </p:sp>
      <p:sp>
        <p:nvSpPr>
          <p:cNvPr id="47" name="Rectangle 46"/>
          <p:cNvSpPr/>
          <p:nvPr/>
        </p:nvSpPr>
        <p:spPr>
          <a:xfrm>
            <a:off x="594360" y="4207154"/>
            <a:ext cx="7004304" cy="307238"/>
          </a:xfrm>
          <a:prstGeom prst="rect">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731520" y="4239158"/>
            <a:ext cx="4251960" cy="256032"/>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142B40"/>
                </a:solidFill>
                <a:latin typeface="Arial"/>
              </a:rPr>
              <a:t>HIP · Moving average</a:t>
            </a:r>
          </a:p>
        </p:txBody>
      </p:sp>
      <p:sp>
        <p:nvSpPr>
          <p:cNvPr id="49" name="Rounded Rectangle 48"/>
          <p:cNvSpPr/>
          <p:nvPr/>
        </p:nvSpPr>
        <p:spPr>
          <a:xfrm>
            <a:off x="5212080" y="4234586"/>
            <a:ext cx="1051560" cy="256032"/>
          </a:xfrm>
          <a:prstGeom prst="roundRect">
            <a:avLst>
              <a:gd name="adj" fmla="val 6000"/>
            </a:avLst>
          </a:prstGeom>
          <a:solidFill>
            <a:srgbClr val="FCEC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212080" y="4250131"/>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B34746"/>
                </a:solidFill>
                <a:latin typeface="Arial"/>
              </a:rPr>
              <a:t>FAIL</a:t>
            </a:r>
          </a:p>
        </p:txBody>
      </p:sp>
      <p:sp>
        <p:nvSpPr>
          <p:cNvPr id="51" name="Rounded Rectangle 50"/>
          <p:cNvSpPr/>
          <p:nvPr/>
        </p:nvSpPr>
        <p:spPr>
          <a:xfrm>
            <a:off x="6400800" y="4234586"/>
            <a:ext cx="1051560" cy="256032"/>
          </a:xfrm>
          <a:prstGeom prst="roundRect">
            <a:avLst>
              <a:gd name="adj" fmla="val 6000"/>
            </a:avLst>
          </a:prstGeom>
          <a:solidFill>
            <a:srgbClr val="FCEC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6400800" y="4250131"/>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B34746"/>
                </a:solidFill>
                <a:latin typeface="Arial"/>
              </a:rPr>
              <a:t>FAIL</a:t>
            </a:r>
          </a:p>
        </p:txBody>
      </p:sp>
      <p:sp>
        <p:nvSpPr>
          <p:cNvPr id="53" name="Rectangle 52"/>
          <p:cNvSpPr/>
          <p:nvPr/>
        </p:nvSpPr>
        <p:spPr>
          <a:xfrm>
            <a:off x="594360" y="4523536"/>
            <a:ext cx="7004304" cy="30723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731520" y="4555540"/>
            <a:ext cx="4251960" cy="256032"/>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142B40"/>
                </a:solidFill>
                <a:latin typeface="Arial"/>
              </a:rPr>
              <a:t>Triton · Fused attention</a:t>
            </a:r>
          </a:p>
        </p:txBody>
      </p:sp>
      <p:sp>
        <p:nvSpPr>
          <p:cNvPr id="55" name="Rounded Rectangle 54"/>
          <p:cNvSpPr/>
          <p:nvPr/>
        </p:nvSpPr>
        <p:spPr>
          <a:xfrm>
            <a:off x="5212080" y="4550968"/>
            <a:ext cx="1051560" cy="256032"/>
          </a:xfrm>
          <a:prstGeom prst="roundRect">
            <a:avLst>
              <a:gd name="adj" fmla="val 6000"/>
            </a:avLst>
          </a:prstGeom>
          <a:solidFill>
            <a:srgbClr val="FCEC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212080" y="4566513"/>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B34746"/>
                </a:solidFill>
                <a:latin typeface="Arial"/>
              </a:rPr>
              <a:t>FAIL</a:t>
            </a:r>
          </a:p>
        </p:txBody>
      </p:sp>
      <p:sp>
        <p:nvSpPr>
          <p:cNvPr id="57" name="Rounded Rectangle 56"/>
          <p:cNvSpPr/>
          <p:nvPr/>
        </p:nvSpPr>
        <p:spPr>
          <a:xfrm>
            <a:off x="6400800" y="4550968"/>
            <a:ext cx="1051560" cy="25603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6400800" y="4566513"/>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008778"/>
                </a:solidFill>
                <a:latin typeface="Arial"/>
              </a:rPr>
              <a:t>PASS</a:t>
            </a:r>
          </a:p>
        </p:txBody>
      </p:sp>
      <p:sp>
        <p:nvSpPr>
          <p:cNvPr id="59" name="Rectangle 58"/>
          <p:cNvSpPr/>
          <p:nvPr/>
        </p:nvSpPr>
        <p:spPr>
          <a:xfrm>
            <a:off x="594360" y="4839919"/>
            <a:ext cx="7004304" cy="307238"/>
          </a:xfrm>
          <a:prstGeom prst="rect">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731520" y="4871923"/>
            <a:ext cx="4251960" cy="256032"/>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142B40"/>
                </a:solidFill>
                <a:latin typeface="Arial"/>
              </a:rPr>
              <a:t>Triton · Fused softmax</a:t>
            </a:r>
          </a:p>
        </p:txBody>
      </p:sp>
      <p:sp>
        <p:nvSpPr>
          <p:cNvPr id="61" name="Rounded Rectangle 60"/>
          <p:cNvSpPr/>
          <p:nvPr/>
        </p:nvSpPr>
        <p:spPr>
          <a:xfrm>
            <a:off x="5212080" y="4867351"/>
            <a:ext cx="1051560" cy="25603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5212080" y="4882895"/>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008778"/>
                </a:solidFill>
                <a:latin typeface="Arial"/>
              </a:rPr>
              <a:t>PASS</a:t>
            </a:r>
          </a:p>
        </p:txBody>
      </p:sp>
      <p:sp>
        <p:nvSpPr>
          <p:cNvPr id="63" name="Rounded Rectangle 62"/>
          <p:cNvSpPr/>
          <p:nvPr/>
        </p:nvSpPr>
        <p:spPr>
          <a:xfrm>
            <a:off x="6400800" y="4867351"/>
            <a:ext cx="1051560" cy="25603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6400800" y="4882895"/>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008778"/>
                </a:solidFill>
                <a:latin typeface="Arial"/>
              </a:rPr>
              <a:t>PASS</a:t>
            </a:r>
          </a:p>
        </p:txBody>
      </p:sp>
      <p:sp>
        <p:nvSpPr>
          <p:cNvPr id="65" name="Rectangle 64"/>
          <p:cNvSpPr/>
          <p:nvPr/>
        </p:nvSpPr>
        <p:spPr>
          <a:xfrm>
            <a:off x="594360" y="5156301"/>
            <a:ext cx="7004304" cy="30723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731520" y="5188305"/>
            <a:ext cx="4251960" cy="256032"/>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142B40"/>
                </a:solidFill>
                <a:latin typeface="Arial"/>
              </a:rPr>
              <a:t>Triton · Layer normalization</a:t>
            </a:r>
          </a:p>
        </p:txBody>
      </p:sp>
      <p:sp>
        <p:nvSpPr>
          <p:cNvPr id="67" name="Rounded Rectangle 66"/>
          <p:cNvSpPr/>
          <p:nvPr/>
        </p:nvSpPr>
        <p:spPr>
          <a:xfrm>
            <a:off x="5212080" y="5183733"/>
            <a:ext cx="1051560" cy="256032"/>
          </a:xfrm>
          <a:prstGeom prst="roundRect">
            <a:avLst>
              <a:gd name="adj" fmla="val 6000"/>
            </a:avLst>
          </a:prstGeom>
          <a:solidFill>
            <a:srgbClr val="FCEC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5212080" y="5199278"/>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B34746"/>
                </a:solidFill>
                <a:latin typeface="Arial"/>
              </a:rPr>
              <a:t>FAIL</a:t>
            </a:r>
          </a:p>
        </p:txBody>
      </p:sp>
      <p:sp>
        <p:nvSpPr>
          <p:cNvPr id="69" name="Rounded Rectangle 68"/>
          <p:cNvSpPr/>
          <p:nvPr/>
        </p:nvSpPr>
        <p:spPr>
          <a:xfrm>
            <a:off x="6400800" y="5183733"/>
            <a:ext cx="1051560" cy="25603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6400800" y="5199278"/>
            <a:ext cx="1051560" cy="210312"/>
          </a:xfrm>
          <a:prstGeom prst="rect">
            <a:avLst/>
          </a:prstGeom>
          <a:noFill/>
        </p:spPr>
        <p:txBody>
          <a:bodyPr wrap="square" lIns="0" rIns="0" tIns="0" bIns="0" anchor="t">
            <a:spAutoFit/>
          </a:bodyPr>
          <a:lstStyle/>
          <a:p>
            <a:pPr algn="ctr">
              <a:lnSpc>
                <a:spcPct val="108000"/>
              </a:lnSpc>
              <a:spcBef>
                <a:spcPts val="0"/>
              </a:spcBef>
              <a:spcAft>
                <a:spcPts val="500"/>
              </a:spcAft>
            </a:pPr>
            <a:r>
              <a:rPr sz="1100" b="1">
                <a:solidFill>
                  <a:srgbClr val="008778"/>
                </a:solidFill>
                <a:latin typeface="Arial"/>
              </a:rPr>
              <a:t>PASS</a:t>
            </a:r>
          </a:p>
        </p:txBody>
      </p:sp>
      <p:sp>
        <p:nvSpPr>
          <p:cNvPr id="71" name="Rounded Rectangle 70"/>
          <p:cNvSpPr/>
          <p:nvPr/>
        </p:nvSpPr>
        <p:spPr>
          <a:xfrm>
            <a:off x="8046720" y="1984248"/>
            <a:ext cx="3538728" cy="1389888"/>
          </a:xfrm>
          <a:prstGeom prst="roundRect">
            <a:avLst>
              <a:gd name="adj" fmla="val 6000"/>
            </a:avLst>
          </a:prstGeom>
          <a:solidFill>
            <a:srgbClr val="EAF0F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8229600" y="2093976"/>
            <a:ext cx="3172968" cy="502920"/>
          </a:xfrm>
          <a:prstGeom prst="rect">
            <a:avLst/>
          </a:prstGeom>
          <a:noFill/>
        </p:spPr>
        <p:txBody>
          <a:bodyPr wrap="square" lIns="0" rIns="0" tIns="0" bIns="0" anchor="t">
            <a:spAutoFit/>
          </a:bodyPr>
          <a:lstStyle/>
          <a:p>
            <a:pPr>
              <a:lnSpc>
                <a:spcPct val="108000"/>
              </a:lnSpc>
              <a:spcBef>
                <a:spcPts val="0"/>
              </a:spcBef>
              <a:spcAft>
                <a:spcPts val="500"/>
              </a:spcAft>
            </a:pPr>
            <a:r>
              <a:rPr sz="3200" b="1">
                <a:solidFill>
                  <a:srgbClr val="356BDC"/>
                </a:solidFill>
                <a:latin typeface="Arial"/>
              </a:rPr>
              <a:t>14/20</a:t>
            </a:r>
          </a:p>
        </p:txBody>
      </p:sp>
      <p:sp>
        <p:nvSpPr>
          <p:cNvPr id="73" name="TextBox 72"/>
          <p:cNvSpPr txBox="1"/>
          <p:nvPr/>
        </p:nvSpPr>
        <p:spPr>
          <a:xfrm>
            <a:off x="8229600" y="2651760"/>
            <a:ext cx="3172968" cy="292608"/>
          </a:xfrm>
          <a:prstGeom prst="rect">
            <a:avLst/>
          </a:prstGeom>
          <a:noFill/>
        </p:spPr>
        <p:txBody>
          <a:bodyPr wrap="square" lIns="0" rIns="0" tIns="0" bIns="0" anchor="t">
            <a:spAutoFit/>
          </a:bodyPr>
          <a:lstStyle/>
          <a:p>
            <a:pPr>
              <a:lnSpc>
                <a:spcPct val="108000"/>
              </a:lnSpc>
              <a:spcBef>
                <a:spcPts val="0"/>
              </a:spcBef>
              <a:spcAft>
                <a:spcPts val="500"/>
              </a:spcAft>
            </a:pPr>
            <a:r>
              <a:rPr sz="1600" b="1">
                <a:solidFill>
                  <a:srgbClr val="142B40"/>
                </a:solidFill>
                <a:latin typeface="Arial"/>
              </a:rPr>
              <a:t>tasks completed</a:t>
            </a:r>
          </a:p>
        </p:txBody>
      </p:sp>
      <p:sp>
        <p:nvSpPr>
          <p:cNvPr id="74" name="TextBox 73"/>
          <p:cNvSpPr txBox="1"/>
          <p:nvPr/>
        </p:nvSpPr>
        <p:spPr>
          <a:xfrm>
            <a:off x="8229600" y="2990088"/>
            <a:ext cx="3172968" cy="384047"/>
          </a:xfrm>
          <a:prstGeom prst="rect">
            <a:avLst/>
          </a:prstGeom>
          <a:noFill/>
        </p:spPr>
        <p:txBody>
          <a:bodyPr wrap="square" lIns="0" rIns="0" tIns="0" bIns="0" anchor="t">
            <a:spAutoFit/>
          </a:bodyPr>
          <a:lstStyle/>
          <a:p>
            <a:pPr>
              <a:lnSpc>
                <a:spcPct val="108000"/>
              </a:lnSpc>
              <a:spcBef>
                <a:spcPts val="0"/>
              </a:spcBef>
              <a:spcAft>
                <a:spcPts val="500"/>
              </a:spcAft>
            </a:pPr>
            <a:r>
              <a:rPr sz="1200" b="0">
                <a:solidFill>
                  <a:srgbClr val="546579"/>
                </a:solidFill>
                <a:latin typeface="Arial"/>
              </a:rPr>
              <a:t>70% overall completion</a:t>
            </a:r>
          </a:p>
        </p:txBody>
      </p:sp>
      <p:sp>
        <p:nvSpPr>
          <p:cNvPr id="75" name="Rounded Rectangle 74"/>
          <p:cNvSpPr/>
          <p:nvPr/>
        </p:nvSpPr>
        <p:spPr>
          <a:xfrm>
            <a:off x="8046720" y="3547872"/>
            <a:ext cx="3538728" cy="1389888"/>
          </a:xfrm>
          <a:prstGeom prst="roundRect">
            <a:avLst>
              <a:gd name="adj" fmla="val 6000"/>
            </a:avLst>
          </a:prstGeom>
          <a:solidFill>
            <a:srgbClr val="FCEC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229600" y="3657600"/>
            <a:ext cx="3172968" cy="502920"/>
          </a:xfrm>
          <a:prstGeom prst="rect">
            <a:avLst/>
          </a:prstGeom>
          <a:noFill/>
        </p:spPr>
        <p:txBody>
          <a:bodyPr wrap="square" lIns="0" rIns="0" tIns="0" bIns="0" anchor="t">
            <a:spAutoFit/>
          </a:bodyPr>
          <a:lstStyle/>
          <a:p>
            <a:pPr>
              <a:lnSpc>
                <a:spcPct val="108000"/>
              </a:lnSpc>
              <a:spcBef>
                <a:spcPts val="0"/>
              </a:spcBef>
              <a:spcAft>
                <a:spcPts val="500"/>
              </a:spcAft>
            </a:pPr>
            <a:r>
              <a:rPr sz="3200" b="1">
                <a:solidFill>
                  <a:srgbClr val="B34746"/>
                </a:solidFill>
                <a:latin typeface="Arial"/>
              </a:rPr>
              <a:t>6 failures</a:t>
            </a:r>
          </a:p>
        </p:txBody>
      </p:sp>
      <p:sp>
        <p:nvSpPr>
          <p:cNvPr id="77" name="TextBox 76"/>
          <p:cNvSpPr txBox="1"/>
          <p:nvPr/>
        </p:nvSpPr>
        <p:spPr>
          <a:xfrm>
            <a:off x="8229600" y="4215383"/>
            <a:ext cx="3172968" cy="292608"/>
          </a:xfrm>
          <a:prstGeom prst="rect">
            <a:avLst/>
          </a:prstGeom>
          <a:noFill/>
        </p:spPr>
        <p:txBody>
          <a:bodyPr wrap="square" lIns="0" rIns="0" tIns="0" bIns="0" anchor="t">
            <a:spAutoFit/>
          </a:bodyPr>
          <a:lstStyle/>
          <a:p>
            <a:pPr>
              <a:lnSpc>
                <a:spcPct val="108000"/>
              </a:lnSpc>
              <a:spcBef>
                <a:spcPts val="0"/>
              </a:spcBef>
              <a:spcAft>
                <a:spcPts val="500"/>
              </a:spcAft>
            </a:pPr>
            <a:r>
              <a:rPr sz="1600" b="1">
                <a:solidFill>
                  <a:srgbClr val="142B40"/>
                </a:solidFill>
                <a:latin typeface="Arial"/>
              </a:rPr>
              <a:t>across both targets</a:t>
            </a:r>
          </a:p>
        </p:txBody>
      </p:sp>
      <p:sp>
        <p:nvSpPr>
          <p:cNvPr id="78" name="TextBox 77"/>
          <p:cNvSpPr txBox="1"/>
          <p:nvPr/>
        </p:nvSpPr>
        <p:spPr>
          <a:xfrm>
            <a:off x="8229600" y="4553712"/>
            <a:ext cx="3172968" cy="384047"/>
          </a:xfrm>
          <a:prstGeom prst="rect">
            <a:avLst/>
          </a:prstGeom>
          <a:noFill/>
        </p:spPr>
        <p:txBody>
          <a:bodyPr wrap="square" lIns="0" rIns="0" tIns="0" bIns="0" anchor="t">
            <a:spAutoFit/>
          </a:bodyPr>
          <a:lstStyle/>
          <a:p>
            <a:pPr>
              <a:lnSpc>
                <a:spcPct val="108000"/>
              </a:lnSpc>
              <a:spcBef>
                <a:spcPts val="0"/>
              </a:spcBef>
              <a:spcAft>
                <a:spcPts val="500"/>
              </a:spcAft>
            </a:pPr>
            <a:r>
              <a:rPr sz="1200" b="0">
                <a:solidFill>
                  <a:srgbClr val="546579"/>
                </a:solidFill>
                <a:latin typeface="Arial"/>
              </a:rPr>
              <a:t>AMD: 4  |  Intel: 2</a:t>
            </a:r>
          </a:p>
        </p:txBody>
      </p:sp>
      <p:sp>
        <p:nvSpPr>
          <p:cNvPr id="79" name="TextBox 78"/>
          <p:cNvSpPr txBox="1"/>
          <p:nvPr/>
        </p:nvSpPr>
        <p:spPr>
          <a:xfrm>
            <a:off x="8046720" y="5212080"/>
            <a:ext cx="3538728" cy="576072"/>
          </a:xfrm>
          <a:prstGeom prst="rect">
            <a:avLst/>
          </a:prstGeom>
          <a:noFill/>
        </p:spPr>
        <p:txBody>
          <a:bodyPr wrap="square" lIns="0" rIns="0" tIns="0" bIns="0" anchor="t">
            <a:spAutoFit/>
          </a:bodyPr>
          <a:lstStyle/>
          <a:p>
            <a:pPr>
              <a:lnSpc>
                <a:spcPct val="108000"/>
              </a:lnSpc>
              <a:spcBef>
                <a:spcPts val="0"/>
              </a:spcBef>
              <a:spcAft>
                <a:spcPts val="500"/>
              </a:spcAft>
            </a:pPr>
            <a:r>
              <a:rPr sz="1500" b="0">
                <a:solidFill>
                  <a:srgbClr val="546579"/>
                </a:solidFill>
                <a:latin typeface="Arial"/>
              </a:rPr>
              <a:t>This is one evaluated provider configuration, not a survey of all LLMs.</a:t>
            </a:r>
          </a:p>
        </p:txBody>
      </p:sp>
      <p:sp>
        <p:nvSpPr>
          <p:cNvPr id="80" name="TextBox 79"/>
          <p:cNvSpPr txBox="1"/>
          <p:nvPr/>
        </p:nvSpPr>
        <p:spPr>
          <a:xfrm>
            <a:off x="594360" y="5888736"/>
            <a:ext cx="10972800" cy="320040"/>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546579"/>
                </a:solidFill>
                <a:latin typeface="Arial"/>
              </a:rPr>
              <a:t>PASS criteria: AMD = compilation only; Intel = historical CPU equivalence + NPU compilation.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789920" cy="210312"/>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008778"/>
                </a:solidFill>
                <a:latin typeface="Arial"/>
              </a:rPr>
              <a:t>02 / HISTORICAL LLM EXPERIMENT</a:t>
            </a:r>
          </a:p>
        </p:txBody>
      </p:sp>
      <p:sp>
        <p:nvSpPr>
          <p:cNvPr id="3" name="TextBox 2"/>
          <p:cNvSpPr txBox="1"/>
          <p:nvPr/>
        </p:nvSpPr>
        <p:spPr>
          <a:xfrm>
            <a:off x="594360" y="704088"/>
            <a:ext cx="10972800" cy="621792"/>
          </a:xfrm>
          <a:prstGeom prst="rect">
            <a:avLst/>
          </a:prstGeom>
          <a:noFill/>
        </p:spPr>
        <p:txBody>
          <a:bodyPr wrap="square" lIns="0" rIns="0" tIns="0" bIns="0" anchor="t">
            <a:spAutoFit/>
          </a:bodyPr>
          <a:lstStyle/>
          <a:p>
            <a:pPr>
              <a:lnSpc>
                <a:spcPct val="108000"/>
              </a:lnSpc>
              <a:spcBef>
                <a:spcPts val="0"/>
              </a:spcBef>
              <a:spcAft>
                <a:spcPts val="500"/>
              </a:spcAft>
            </a:pPr>
            <a:r>
              <a:rPr sz="3100" b="1">
                <a:solidFill>
                  <a:srgbClr val="142B40"/>
                </a:solidFill>
                <a:latin typeface="Arial"/>
              </a:rPr>
              <a:t>Agentic feedback recovers 5 of 6 failures</a:t>
            </a:r>
          </a:p>
        </p:txBody>
      </p:sp>
      <p:sp>
        <p:nvSpPr>
          <p:cNvPr id="4" name="TextBox 3"/>
          <p:cNvSpPr txBox="1"/>
          <p:nvPr/>
        </p:nvSpPr>
        <p:spPr>
          <a:xfrm>
            <a:off x="594360" y="1344168"/>
            <a:ext cx="10972800" cy="475488"/>
          </a:xfrm>
          <a:prstGeom prst="rect">
            <a:avLst/>
          </a:prstGeom>
          <a:noFill/>
        </p:spPr>
        <p:txBody>
          <a:bodyPr wrap="square" lIns="0" rIns="0" tIns="0" bIns="0" anchor="t">
            <a:spAutoFit/>
          </a:bodyPr>
          <a:lstStyle/>
          <a:p>
            <a:pPr>
              <a:lnSpc>
                <a:spcPct val="108000"/>
              </a:lnSpc>
              <a:spcBef>
                <a:spcPts val="0"/>
              </a:spcBef>
              <a:spcAft>
                <a:spcPts val="500"/>
              </a:spcAft>
            </a:pPr>
            <a:r>
              <a:rPr sz="1700" b="0">
                <a:solidFill>
                  <a:srgbClr val="546579"/>
                </a:solidFill>
                <a:latin typeface="Arial"/>
              </a:rPr>
              <a:t>The framework analyzes, generates, compiles and repairs candidates using tool feedback.</a:t>
            </a:r>
          </a:p>
        </p:txBody>
      </p:sp>
      <p:sp>
        <p:nvSpPr>
          <p:cNvPr id="5" name="Rectangle 4"/>
          <p:cNvSpPr/>
          <p:nvPr/>
        </p:nvSpPr>
        <p:spPr>
          <a:xfrm>
            <a:off x="594360" y="6419088"/>
            <a:ext cx="10991088" cy="8229"/>
          </a:xfrm>
          <a:prstGeom prst="rect">
            <a:avLst/>
          </a:prstGeom>
          <a:solidFill>
            <a:srgbClr val="DFE6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94360" y="6519672"/>
            <a:ext cx="10241280" cy="164592"/>
          </a:xfrm>
          <a:prstGeom prst="rect">
            <a:avLst/>
          </a:prstGeom>
          <a:noFill/>
        </p:spPr>
        <p:txBody>
          <a:bodyPr wrap="square" lIns="0" rIns="0" tIns="0" bIns="0" anchor="t">
            <a:spAutoFit/>
          </a:bodyPr>
          <a:lstStyle/>
          <a:p>
            <a:pPr>
              <a:lnSpc>
                <a:spcPct val="108000"/>
              </a:lnSpc>
              <a:spcBef>
                <a:spcPts val="0"/>
              </a:spcBef>
              <a:spcAft>
                <a:spcPts val="500"/>
              </a:spcAft>
            </a:pPr>
            <a:r>
              <a:rPr sz="900" b="0">
                <a:solidFill>
                  <a:srgbClr val="546579"/>
                </a:solidFill>
                <a:latin typeface="Arial"/>
              </a:rPr>
              <a:t>Source: E1 • Same 20 kernel-target tasks • Historical acceptance criteria • Search budgets differ.</a:t>
            </a:r>
          </a:p>
        </p:txBody>
      </p:sp>
      <p:sp>
        <p:nvSpPr>
          <p:cNvPr id="7" name="TextBox 6"/>
          <p:cNvSpPr txBox="1"/>
          <p:nvPr/>
        </p:nvSpPr>
        <p:spPr>
          <a:xfrm>
            <a:off x="11018520" y="6501384"/>
            <a:ext cx="548640" cy="201168"/>
          </a:xfrm>
          <a:prstGeom prst="rect">
            <a:avLst/>
          </a:prstGeom>
          <a:noFill/>
        </p:spPr>
        <p:txBody>
          <a:bodyPr wrap="square" lIns="0" rIns="0" tIns="0" bIns="0" anchor="t">
            <a:spAutoFit/>
          </a:bodyPr>
          <a:lstStyle/>
          <a:p>
            <a:pPr algn="r">
              <a:lnSpc>
                <a:spcPct val="108000"/>
              </a:lnSpc>
              <a:spcBef>
                <a:spcPts val="0"/>
              </a:spcBef>
              <a:spcAft>
                <a:spcPts val="500"/>
              </a:spcAft>
            </a:pPr>
            <a:r>
              <a:rPr sz="1100" b="0">
                <a:solidFill>
                  <a:srgbClr val="546579"/>
                </a:solidFill>
                <a:latin typeface="Arial"/>
              </a:rPr>
              <a:t>03</a:t>
            </a:r>
          </a:p>
        </p:txBody>
      </p:sp>
      <p:graphicFrame>
        <p:nvGraphicFramePr>
          <p:cNvPr id="8" name="Chart 7"/>
          <p:cNvGraphicFramePr>
            <a:graphicFrameLocks noGrp="1"/>
          </p:cNvGraphicFramePr>
          <p:nvPr/>
        </p:nvGraphicFramePr>
        <p:xfrm>
          <a:off x="594360" y="1883664"/>
          <a:ext cx="6903720" cy="2999232"/>
        </p:xfrm>
        <a:graphic>
          <a:graphicData uri="http://schemas.openxmlformats.org/drawingml/2006/chart">
            <c:chart xmlns:c="http://schemas.openxmlformats.org/drawingml/2006/chart" r:id="rId2"/>
          </a:graphicData>
        </a:graphic>
      </p:graphicFrame>
      <p:sp>
        <p:nvSpPr>
          <p:cNvPr id="9" name="TextBox 8"/>
          <p:cNvSpPr txBox="1"/>
          <p:nvPr/>
        </p:nvSpPr>
        <p:spPr>
          <a:xfrm>
            <a:off x="822960" y="4937760"/>
            <a:ext cx="6446520" cy="420624"/>
          </a:xfrm>
          <a:prstGeom prst="rect">
            <a:avLst/>
          </a:prstGeom>
          <a:noFill/>
        </p:spPr>
        <p:txBody>
          <a:bodyPr wrap="square" lIns="0" rIns="0" tIns="0" bIns="0" anchor="t">
            <a:spAutoFit/>
          </a:bodyPr>
          <a:lstStyle/>
          <a:p>
            <a:pPr algn="ctr">
              <a:lnSpc>
                <a:spcPct val="108000"/>
              </a:lnSpc>
              <a:spcBef>
                <a:spcPts val="0"/>
              </a:spcBef>
              <a:spcAft>
                <a:spcPts val="500"/>
              </a:spcAft>
            </a:pPr>
            <a:r>
              <a:rPr sz="1200" b="0">
                <a:solidFill>
                  <a:srgbClr val="546579"/>
                </a:solidFill>
                <a:latin typeface="Arial"/>
              </a:rPr>
              <a:t>AMD: compilation only   |   Intel: CPU equivalence + compilation</a:t>
            </a:r>
          </a:p>
        </p:txBody>
      </p:sp>
      <p:sp>
        <p:nvSpPr>
          <p:cNvPr id="10" name="Rounded Rectangle 9"/>
          <p:cNvSpPr/>
          <p:nvPr/>
        </p:nvSpPr>
        <p:spPr>
          <a:xfrm>
            <a:off x="8046720" y="1920240"/>
            <a:ext cx="3538728" cy="144475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229600" y="2029968"/>
            <a:ext cx="3172968" cy="502920"/>
          </a:xfrm>
          <a:prstGeom prst="rect">
            <a:avLst/>
          </a:prstGeom>
          <a:noFill/>
        </p:spPr>
        <p:txBody>
          <a:bodyPr wrap="square" lIns="0" rIns="0" tIns="0" bIns="0" anchor="t">
            <a:spAutoFit/>
          </a:bodyPr>
          <a:lstStyle/>
          <a:p>
            <a:pPr>
              <a:lnSpc>
                <a:spcPct val="108000"/>
              </a:lnSpc>
              <a:spcBef>
                <a:spcPts val="0"/>
              </a:spcBef>
              <a:spcAft>
                <a:spcPts val="500"/>
              </a:spcAft>
            </a:pPr>
            <a:r>
              <a:rPr sz="3200" b="1">
                <a:solidFill>
                  <a:srgbClr val="008778"/>
                </a:solidFill>
                <a:latin typeface="Arial"/>
              </a:rPr>
              <a:t>+25 pp</a:t>
            </a:r>
          </a:p>
        </p:txBody>
      </p:sp>
      <p:sp>
        <p:nvSpPr>
          <p:cNvPr id="12" name="TextBox 11"/>
          <p:cNvSpPr txBox="1"/>
          <p:nvPr/>
        </p:nvSpPr>
        <p:spPr>
          <a:xfrm>
            <a:off x="8229600" y="2587752"/>
            <a:ext cx="3172968" cy="292608"/>
          </a:xfrm>
          <a:prstGeom prst="rect">
            <a:avLst/>
          </a:prstGeom>
          <a:noFill/>
        </p:spPr>
        <p:txBody>
          <a:bodyPr wrap="square" lIns="0" rIns="0" tIns="0" bIns="0" anchor="t">
            <a:spAutoFit/>
          </a:bodyPr>
          <a:lstStyle/>
          <a:p>
            <a:pPr>
              <a:lnSpc>
                <a:spcPct val="108000"/>
              </a:lnSpc>
              <a:spcBef>
                <a:spcPts val="0"/>
              </a:spcBef>
              <a:spcAft>
                <a:spcPts val="500"/>
              </a:spcAft>
            </a:pPr>
            <a:r>
              <a:rPr sz="1600" b="1">
                <a:solidFill>
                  <a:srgbClr val="142B40"/>
                </a:solidFill>
                <a:latin typeface="Arial"/>
              </a:rPr>
              <a:t>completion improvement</a:t>
            </a:r>
          </a:p>
        </p:txBody>
      </p:sp>
      <p:sp>
        <p:nvSpPr>
          <p:cNvPr id="13" name="TextBox 12"/>
          <p:cNvSpPr txBox="1"/>
          <p:nvPr/>
        </p:nvSpPr>
        <p:spPr>
          <a:xfrm>
            <a:off x="8229600" y="2926080"/>
            <a:ext cx="3172968" cy="438912"/>
          </a:xfrm>
          <a:prstGeom prst="rect">
            <a:avLst/>
          </a:prstGeom>
          <a:noFill/>
        </p:spPr>
        <p:txBody>
          <a:bodyPr wrap="square" lIns="0" rIns="0" tIns="0" bIns="0" anchor="t">
            <a:spAutoFit/>
          </a:bodyPr>
          <a:lstStyle/>
          <a:p>
            <a:pPr>
              <a:lnSpc>
                <a:spcPct val="108000"/>
              </a:lnSpc>
              <a:spcBef>
                <a:spcPts val="0"/>
              </a:spcBef>
              <a:spcAft>
                <a:spcPts val="500"/>
              </a:spcAft>
            </a:pPr>
            <a:r>
              <a:rPr sz="1200" b="0">
                <a:solidFill>
                  <a:srgbClr val="546579"/>
                </a:solidFill>
                <a:latin typeface="Arial"/>
              </a:rPr>
              <a:t>70% → 95%  |  14/20 → 19/20</a:t>
            </a:r>
          </a:p>
        </p:txBody>
      </p:sp>
      <p:sp>
        <p:nvSpPr>
          <p:cNvPr id="14" name="TextBox 13"/>
          <p:cNvSpPr txBox="1"/>
          <p:nvPr/>
        </p:nvSpPr>
        <p:spPr>
          <a:xfrm>
            <a:off x="8046720" y="3694176"/>
            <a:ext cx="3474720" cy="320040"/>
          </a:xfrm>
          <a:prstGeom prst="rect">
            <a:avLst/>
          </a:prstGeom>
          <a:noFill/>
        </p:spPr>
        <p:txBody>
          <a:bodyPr wrap="square" lIns="0" rIns="0" tIns="0" bIns="0" anchor="t">
            <a:spAutoFit/>
          </a:bodyPr>
          <a:lstStyle/>
          <a:p>
            <a:pPr>
              <a:lnSpc>
                <a:spcPct val="108000"/>
              </a:lnSpc>
              <a:spcBef>
                <a:spcPts val="0"/>
              </a:spcBef>
              <a:spcAft>
                <a:spcPts val="500"/>
              </a:spcAft>
            </a:pPr>
            <a:r>
              <a:rPr sz="2100" b="1">
                <a:solidFill>
                  <a:srgbClr val="142B40"/>
                </a:solidFill>
                <a:latin typeface="Arial"/>
              </a:rPr>
              <a:t>1 failure remains</a:t>
            </a:r>
          </a:p>
        </p:txBody>
      </p:sp>
      <p:sp>
        <p:nvSpPr>
          <p:cNvPr id="15" name="TextBox 14"/>
          <p:cNvSpPr txBox="1"/>
          <p:nvPr/>
        </p:nvSpPr>
        <p:spPr>
          <a:xfrm>
            <a:off x="8046720" y="4169663"/>
            <a:ext cx="3474720" cy="868680"/>
          </a:xfrm>
          <a:prstGeom prst="rect">
            <a:avLst/>
          </a:prstGeom>
          <a:noFill/>
        </p:spPr>
        <p:txBody>
          <a:bodyPr wrap="square" lIns="0" rIns="0" tIns="0" bIns="0" anchor="t">
            <a:spAutoFit/>
          </a:bodyPr>
          <a:lstStyle/>
          <a:p>
            <a:pPr>
              <a:lnSpc>
                <a:spcPct val="108000"/>
              </a:lnSpc>
              <a:spcBef>
                <a:spcPts val="0"/>
              </a:spcBef>
              <a:spcAft>
                <a:spcPts val="500"/>
              </a:spcAft>
            </a:pPr>
            <a:r>
              <a:rPr sz="1800" b="0">
                <a:solidFill>
                  <a:srgbClr val="546579"/>
                </a:solidFill>
                <a:latin typeface="Arial"/>
              </a:rPr>
              <a:t>AMD fused attention failed the intermediate-representation check.</a:t>
            </a:r>
          </a:p>
        </p:txBody>
      </p:sp>
      <p:sp>
        <p:nvSpPr>
          <p:cNvPr id="16" name="Rounded Rectangle 15"/>
          <p:cNvSpPr/>
          <p:nvPr/>
        </p:nvSpPr>
        <p:spPr>
          <a:xfrm>
            <a:off x="594360" y="5468112"/>
            <a:ext cx="10991088" cy="475488"/>
          </a:xfrm>
          <a:prstGeom prst="roundRect">
            <a:avLst>
              <a:gd name="adj" fmla="val 6000"/>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58952" y="5577840"/>
            <a:ext cx="10661904" cy="246888"/>
          </a:xfrm>
          <a:prstGeom prst="rect">
            <a:avLst/>
          </a:prstGeom>
          <a:noFill/>
        </p:spPr>
        <p:txBody>
          <a:bodyPr wrap="square" lIns="0" rIns="0" tIns="0" bIns="0" anchor="t">
            <a:spAutoFit/>
          </a:bodyPr>
          <a:lstStyle/>
          <a:p>
            <a:pPr>
              <a:lnSpc>
                <a:spcPct val="108000"/>
              </a:lnSpc>
              <a:spcBef>
                <a:spcPts val="0"/>
              </a:spcBef>
              <a:spcAft>
                <a:spcPts val="500"/>
              </a:spcAft>
            </a:pPr>
            <a:r>
              <a:rPr sz="1700" b="1">
                <a:solidFill>
                  <a:srgbClr val="142B40"/>
                </a:solidFill>
                <a:latin typeface="Arial"/>
              </a:rPr>
              <a:t>SEARCH COST     Model calls: 20 → 127       Compile attempts: 20 → 216</a:t>
            </a:r>
          </a:p>
        </p:txBody>
      </p:sp>
      <p:sp>
        <p:nvSpPr>
          <p:cNvPr id="18" name="TextBox 17"/>
          <p:cNvSpPr txBox="1"/>
          <p:nvPr/>
        </p:nvSpPr>
        <p:spPr>
          <a:xfrm>
            <a:off x="594360" y="6099048"/>
            <a:ext cx="10972800" cy="219456"/>
          </a:xfrm>
          <a:prstGeom prst="rect">
            <a:avLst/>
          </a:prstGeom>
          <a:noFill/>
        </p:spPr>
        <p:txBody>
          <a:bodyPr wrap="square" lIns="0" rIns="0" tIns="0" bIns="0" anchor="t">
            <a:spAutoFit/>
          </a:bodyPr>
          <a:lstStyle/>
          <a:p>
            <a:pPr>
              <a:lnSpc>
                <a:spcPct val="108000"/>
              </a:lnSpc>
              <a:spcBef>
                <a:spcPts val="0"/>
              </a:spcBef>
              <a:spcAft>
                <a:spcPts val="500"/>
              </a:spcAft>
            </a:pPr>
            <a:r>
              <a:rPr sz="1200" b="0">
                <a:solidFill>
                  <a:srgbClr val="546579"/>
                </a:solidFill>
                <a:latin typeface="Arial"/>
              </a:rPr>
              <a:t>This shows a benefit from the full agentic workflow; it is not an equal-compute comparison or a 95% device-correctness result.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789920" cy="210312"/>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008778"/>
                </a:solidFill>
                <a:latin typeface="Arial"/>
              </a:rPr>
              <a:t>03 / CURRENT EVALUATOR VALIDATION</a:t>
            </a:r>
          </a:p>
        </p:txBody>
      </p:sp>
      <p:sp>
        <p:nvSpPr>
          <p:cNvPr id="3" name="TextBox 2"/>
          <p:cNvSpPr txBox="1"/>
          <p:nvPr/>
        </p:nvSpPr>
        <p:spPr>
          <a:xfrm>
            <a:off x="594360" y="704088"/>
            <a:ext cx="10972800" cy="621792"/>
          </a:xfrm>
          <a:prstGeom prst="rect">
            <a:avLst/>
          </a:prstGeom>
          <a:noFill/>
        </p:spPr>
        <p:txBody>
          <a:bodyPr wrap="square" lIns="0" rIns="0" tIns="0" bIns="0" anchor="t">
            <a:spAutoFit/>
          </a:bodyPr>
          <a:lstStyle/>
          <a:p>
            <a:pPr>
              <a:lnSpc>
                <a:spcPct val="108000"/>
              </a:lnSpc>
              <a:spcBef>
                <a:spcPts val="0"/>
              </a:spcBef>
              <a:spcAft>
                <a:spcPts val="500"/>
              </a:spcAft>
            </a:pPr>
            <a:r>
              <a:rPr sz="3100" b="1">
                <a:solidFill>
                  <a:srgbClr val="142B40"/>
                </a:solidFill>
                <a:latin typeface="Arial"/>
              </a:rPr>
              <a:t>The framework now checks correctness explicitly</a:t>
            </a:r>
          </a:p>
        </p:txBody>
      </p:sp>
      <p:sp>
        <p:nvSpPr>
          <p:cNvPr id="4" name="TextBox 3"/>
          <p:cNvSpPr txBox="1"/>
          <p:nvPr/>
        </p:nvSpPr>
        <p:spPr>
          <a:xfrm>
            <a:off x="594360" y="1344168"/>
            <a:ext cx="10972800" cy="475488"/>
          </a:xfrm>
          <a:prstGeom prst="rect">
            <a:avLst/>
          </a:prstGeom>
          <a:noFill/>
        </p:spPr>
        <p:txBody>
          <a:bodyPr wrap="square" lIns="0" rIns="0" tIns="0" bIns="0" anchor="t">
            <a:spAutoFit/>
          </a:bodyPr>
          <a:lstStyle/>
          <a:p>
            <a:pPr>
              <a:lnSpc>
                <a:spcPct val="108000"/>
              </a:lnSpc>
              <a:spcBef>
                <a:spcPts val="0"/>
              </a:spcBef>
              <a:spcAft>
                <a:spcPts val="500"/>
              </a:spcAft>
            </a:pPr>
            <a:r>
              <a:rPr sz="1700" b="0">
                <a:solidFill>
                  <a:srgbClr val="546579"/>
                </a:solidFill>
                <a:latin typeface="Arial"/>
              </a:rPr>
              <a:t>Independent references, host execution and AMD dataflow checks form the offline acceptance gate.</a:t>
            </a:r>
          </a:p>
        </p:txBody>
      </p:sp>
      <p:sp>
        <p:nvSpPr>
          <p:cNvPr id="5" name="Rectangle 4"/>
          <p:cNvSpPr/>
          <p:nvPr/>
        </p:nvSpPr>
        <p:spPr>
          <a:xfrm>
            <a:off x="594360" y="6419088"/>
            <a:ext cx="10991088" cy="8229"/>
          </a:xfrm>
          <a:prstGeom prst="rect">
            <a:avLst/>
          </a:prstGeom>
          <a:solidFill>
            <a:srgbClr val="DFE6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94360" y="6519672"/>
            <a:ext cx="10241280" cy="164592"/>
          </a:xfrm>
          <a:prstGeom prst="rect">
            <a:avLst/>
          </a:prstGeom>
          <a:noFill/>
        </p:spPr>
        <p:txBody>
          <a:bodyPr wrap="square" lIns="0" rIns="0" tIns="0" bIns="0" anchor="t">
            <a:spAutoFit/>
          </a:bodyPr>
          <a:lstStyle/>
          <a:p>
            <a:pPr>
              <a:lnSpc>
                <a:spcPct val="108000"/>
              </a:lnSpc>
              <a:spcBef>
                <a:spcPts val="0"/>
              </a:spcBef>
              <a:spcAft>
                <a:spcPts val="500"/>
              </a:spcAft>
            </a:pPr>
            <a:r>
              <a:rPr sz="900" b="0">
                <a:solidFill>
                  <a:srgbClr val="546579"/>
                </a:solidFill>
                <a:latin typeface="Arial"/>
              </a:rPr>
              <a:t>Sources: E2, E3 • 11 deterministic candidates per target • 12 inputs per candidate • No LLM calls in this suite.</a:t>
            </a:r>
          </a:p>
        </p:txBody>
      </p:sp>
      <p:sp>
        <p:nvSpPr>
          <p:cNvPr id="7" name="TextBox 6"/>
          <p:cNvSpPr txBox="1"/>
          <p:nvPr/>
        </p:nvSpPr>
        <p:spPr>
          <a:xfrm>
            <a:off x="11018520" y="6501384"/>
            <a:ext cx="548640" cy="201168"/>
          </a:xfrm>
          <a:prstGeom prst="rect">
            <a:avLst/>
          </a:prstGeom>
          <a:noFill/>
        </p:spPr>
        <p:txBody>
          <a:bodyPr wrap="square" lIns="0" rIns="0" tIns="0" bIns="0" anchor="t">
            <a:spAutoFit/>
          </a:bodyPr>
          <a:lstStyle/>
          <a:p>
            <a:pPr algn="r">
              <a:lnSpc>
                <a:spcPct val="108000"/>
              </a:lnSpc>
              <a:spcBef>
                <a:spcPts val="0"/>
              </a:spcBef>
              <a:spcAft>
                <a:spcPts val="500"/>
              </a:spcAft>
            </a:pPr>
            <a:r>
              <a:rPr sz="1100" b="0">
                <a:solidFill>
                  <a:srgbClr val="546579"/>
                </a:solidFill>
                <a:latin typeface="Arial"/>
              </a:rPr>
              <a:t>04</a:t>
            </a:r>
          </a:p>
        </p:txBody>
      </p:sp>
      <p:sp>
        <p:nvSpPr>
          <p:cNvPr id="8" name="Rounded Rectangle 7"/>
          <p:cNvSpPr/>
          <p:nvPr/>
        </p:nvSpPr>
        <p:spPr>
          <a:xfrm>
            <a:off x="594360" y="1847088"/>
            <a:ext cx="2542032" cy="722376"/>
          </a:xfrm>
          <a:prstGeom prst="roundRect">
            <a:avLst>
              <a:gd name="adj" fmla="val 6000"/>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13232" y="1965960"/>
            <a:ext cx="2304288" cy="201168"/>
          </a:xfrm>
          <a:prstGeom prst="rect">
            <a:avLst/>
          </a:prstGeom>
          <a:noFill/>
        </p:spPr>
        <p:txBody>
          <a:bodyPr wrap="square" lIns="0" rIns="0" tIns="0" bIns="0" anchor="t">
            <a:spAutoFit/>
          </a:bodyPr>
          <a:lstStyle/>
          <a:p>
            <a:pPr>
              <a:lnSpc>
                <a:spcPct val="108000"/>
              </a:lnSpc>
              <a:spcBef>
                <a:spcPts val="0"/>
              </a:spcBef>
              <a:spcAft>
                <a:spcPts val="500"/>
              </a:spcAft>
            </a:pPr>
            <a:r>
              <a:rPr sz="1200" b="1">
                <a:solidFill>
                  <a:srgbClr val="008778"/>
                </a:solidFill>
                <a:latin typeface="Arial"/>
              </a:rPr>
              <a:t>01  REFERENCE</a:t>
            </a:r>
          </a:p>
        </p:txBody>
      </p:sp>
      <p:sp>
        <p:nvSpPr>
          <p:cNvPr id="10" name="TextBox 9"/>
          <p:cNvSpPr txBox="1"/>
          <p:nvPr/>
        </p:nvSpPr>
        <p:spPr>
          <a:xfrm>
            <a:off x="713232" y="2295144"/>
            <a:ext cx="2304288" cy="219456"/>
          </a:xfrm>
          <a:prstGeom prst="rect">
            <a:avLst/>
          </a:prstGeom>
          <a:noFill/>
        </p:spPr>
        <p:txBody>
          <a:bodyPr wrap="square" lIns="0" rIns="0" tIns="0" bIns="0" anchor="t">
            <a:spAutoFit/>
          </a:bodyPr>
          <a:lstStyle/>
          <a:p>
            <a:pPr>
              <a:lnSpc>
                <a:spcPct val="108000"/>
              </a:lnSpc>
              <a:spcBef>
                <a:spcPts val="0"/>
              </a:spcBef>
              <a:spcAft>
                <a:spcPts val="500"/>
              </a:spcAft>
            </a:pPr>
            <a:r>
              <a:rPr sz="1100" b="0">
                <a:solidFill>
                  <a:srgbClr val="546579"/>
                </a:solidFill>
                <a:latin typeface="Arial"/>
              </a:rPr>
              <a:t>Independent expected outputs</a:t>
            </a:r>
          </a:p>
        </p:txBody>
      </p:sp>
      <p:sp>
        <p:nvSpPr>
          <p:cNvPr id="11" name="TextBox 10"/>
          <p:cNvSpPr txBox="1"/>
          <p:nvPr/>
        </p:nvSpPr>
        <p:spPr>
          <a:xfrm>
            <a:off x="3154679" y="2057400"/>
            <a:ext cx="246888" cy="301752"/>
          </a:xfrm>
          <a:prstGeom prst="rect">
            <a:avLst/>
          </a:prstGeom>
          <a:noFill/>
        </p:spPr>
        <p:txBody>
          <a:bodyPr wrap="square" lIns="0" rIns="0" tIns="0" bIns="0" anchor="t">
            <a:spAutoFit/>
          </a:bodyPr>
          <a:lstStyle/>
          <a:p>
            <a:pPr algn="ctr">
              <a:lnSpc>
                <a:spcPct val="108000"/>
              </a:lnSpc>
              <a:spcBef>
                <a:spcPts val="0"/>
              </a:spcBef>
              <a:spcAft>
                <a:spcPts val="500"/>
              </a:spcAft>
            </a:pPr>
            <a:r>
              <a:rPr sz="1900" b="0">
                <a:solidFill>
                  <a:srgbClr val="546579"/>
                </a:solidFill>
                <a:latin typeface="Arial"/>
              </a:rPr>
              <a:t>→</a:t>
            </a:r>
          </a:p>
        </p:txBody>
      </p:sp>
      <p:sp>
        <p:nvSpPr>
          <p:cNvPr id="12" name="Rounded Rectangle 11"/>
          <p:cNvSpPr/>
          <p:nvPr/>
        </p:nvSpPr>
        <p:spPr>
          <a:xfrm>
            <a:off x="3410712" y="1847088"/>
            <a:ext cx="2542032" cy="722376"/>
          </a:xfrm>
          <a:prstGeom prst="roundRect">
            <a:avLst>
              <a:gd name="adj" fmla="val 6000"/>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529584" y="1965960"/>
            <a:ext cx="2304288" cy="201168"/>
          </a:xfrm>
          <a:prstGeom prst="rect">
            <a:avLst/>
          </a:prstGeom>
          <a:noFill/>
        </p:spPr>
        <p:txBody>
          <a:bodyPr wrap="square" lIns="0" rIns="0" tIns="0" bIns="0" anchor="t">
            <a:spAutoFit/>
          </a:bodyPr>
          <a:lstStyle/>
          <a:p>
            <a:pPr>
              <a:lnSpc>
                <a:spcPct val="108000"/>
              </a:lnSpc>
              <a:spcBef>
                <a:spcPts val="0"/>
              </a:spcBef>
              <a:spcAft>
                <a:spcPts val="500"/>
              </a:spcAft>
            </a:pPr>
            <a:r>
              <a:rPr sz="1200" b="1">
                <a:solidFill>
                  <a:srgbClr val="008778"/>
                </a:solidFill>
                <a:latin typeface="Arial"/>
              </a:rPr>
              <a:t>02  EXECUTE</a:t>
            </a:r>
          </a:p>
        </p:txBody>
      </p:sp>
      <p:sp>
        <p:nvSpPr>
          <p:cNvPr id="14" name="TextBox 13"/>
          <p:cNvSpPr txBox="1"/>
          <p:nvPr/>
        </p:nvSpPr>
        <p:spPr>
          <a:xfrm>
            <a:off x="3529584" y="2295144"/>
            <a:ext cx="2304288" cy="219456"/>
          </a:xfrm>
          <a:prstGeom prst="rect">
            <a:avLst/>
          </a:prstGeom>
          <a:noFill/>
        </p:spPr>
        <p:txBody>
          <a:bodyPr wrap="square" lIns="0" rIns="0" tIns="0" bIns="0" anchor="t">
            <a:spAutoFit/>
          </a:bodyPr>
          <a:lstStyle/>
          <a:p>
            <a:pPr>
              <a:lnSpc>
                <a:spcPct val="108000"/>
              </a:lnSpc>
              <a:spcBef>
                <a:spcPts val="0"/>
              </a:spcBef>
              <a:spcAft>
                <a:spcPts val="500"/>
              </a:spcAft>
            </a:pPr>
            <a:r>
              <a:rPr sz="1100" b="0">
                <a:solidFill>
                  <a:srgbClr val="546579"/>
                </a:solidFill>
                <a:latin typeface="Arial"/>
              </a:rPr>
              <a:t>Candidate source / CPU graph</a:t>
            </a:r>
          </a:p>
        </p:txBody>
      </p:sp>
      <p:sp>
        <p:nvSpPr>
          <p:cNvPr id="15" name="TextBox 14"/>
          <p:cNvSpPr txBox="1"/>
          <p:nvPr/>
        </p:nvSpPr>
        <p:spPr>
          <a:xfrm>
            <a:off x="5971031" y="2057400"/>
            <a:ext cx="246888" cy="301752"/>
          </a:xfrm>
          <a:prstGeom prst="rect">
            <a:avLst/>
          </a:prstGeom>
          <a:noFill/>
        </p:spPr>
        <p:txBody>
          <a:bodyPr wrap="square" lIns="0" rIns="0" tIns="0" bIns="0" anchor="t">
            <a:spAutoFit/>
          </a:bodyPr>
          <a:lstStyle/>
          <a:p>
            <a:pPr algn="ctr">
              <a:lnSpc>
                <a:spcPct val="108000"/>
              </a:lnSpc>
              <a:spcBef>
                <a:spcPts val="0"/>
              </a:spcBef>
              <a:spcAft>
                <a:spcPts val="500"/>
              </a:spcAft>
            </a:pPr>
            <a:r>
              <a:rPr sz="1900" b="0">
                <a:solidFill>
                  <a:srgbClr val="546579"/>
                </a:solidFill>
                <a:latin typeface="Arial"/>
              </a:rPr>
              <a:t>→</a:t>
            </a:r>
          </a:p>
        </p:txBody>
      </p:sp>
      <p:sp>
        <p:nvSpPr>
          <p:cNvPr id="16" name="Rounded Rectangle 15"/>
          <p:cNvSpPr/>
          <p:nvPr/>
        </p:nvSpPr>
        <p:spPr>
          <a:xfrm>
            <a:off x="6227064" y="1847088"/>
            <a:ext cx="2542032" cy="722376"/>
          </a:xfrm>
          <a:prstGeom prst="roundRect">
            <a:avLst>
              <a:gd name="adj" fmla="val 6000"/>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345936" y="1965960"/>
            <a:ext cx="2304288" cy="201168"/>
          </a:xfrm>
          <a:prstGeom prst="rect">
            <a:avLst/>
          </a:prstGeom>
          <a:noFill/>
        </p:spPr>
        <p:txBody>
          <a:bodyPr wrap="square" lIns="0" rIns="0" tIns="0" bIns="0" anchor="t">
            <a:spAutoFit/>
          </a:bodyPr>
          <a:lstStyle/>
          <a:p>
            <a:pPr>
              <a:lnSpc>
                <a:spcPct val="108000"/>
              </a:lnSpc>
              <a:spcBef>
                <a:spcPts val="0"/>
              </a:spcBef>
              <a:spcAft>
                <a:spcPts val="500"/>
              </a:spcAft>
            </a:pPr>
            <a:r>
              <a:rPr sz="1200" b="1">
                <a:solidFill>
                  <a:srgbClr val="008778"/>
                </a:solidFill>
                <a:latin typeface="Arial"/>
              </a:rPr>
              <a:t>03  CHECK</a:t>
            </a:r>
          </a:p>
        </p:txBody>
      </p:sp>
      <p:sp>
        <p:nvSpPr>
          <p:cNvPr id="18" name="TextBox 17"/>
          <p:cNvSpPr txBox="1"/>
          <p:nvPr/>
        </p:nvSpPr>
        <p:spPr>
          <a:xfrm>
            <a:off x="6345936" y="2295144"/>
            <a:ext cx="2304288" cy="219456"/>
          </a:xfrm>
          <a:prstGeom prst="rect">
            <a:avLst/>
          </a:prstGeom>
          <a:noFill/>
        </p:spPr>
        <p:txBody>
          <a:bodyPr wrap="square" lIns="0" rIns="0" tIns="0" bIns="0" anchor="t">
            <a:spAutoFit/>
          </a:bodyPr>
          <a:lstStyle/>
          <a:p>
            <a:pPr>
              <a:lnSpc>
                <a:spcPct val="108000"/>
              </a:lnSpc>
              <a:spcBef>
                <a:spcPts val="0"/>
              </a:spcBef>
              <a:spcAft>
                <a:spcPts val="500"/>
              </a:spcAft>
            </a:pPr>
            <a:r>
              <a:rPr sz="1100" b="0">
                <a:solidFill>
                  <a:srgbClr val="546579"/>
                </a:solidFill>
                <a:latin typeface="Arial"/>
              </a:rPr>
              <a:t>Numerics + AMD dataflow</a:t>
            </a:r>
          </a:p>
        </p:txBody>
      </p:sp>
      <p:sp>
        <p:nvSpPr>
          <p:cNvPr id="19" name="TextBox 18"/>
          <p:cNvSpPr txBox="1"/>
          <p:nvPr/>
        </p:nvSpPr>
        <p:spPr>
          <a:xfrm>
            <a:off x="8787384" y="2057400"/>
            <a:ext cx="246888" cy="301752"/>
          </a:xfrm>
          <a:prstGeom prst="rect">
            <a:avLst/>
          </a:prstGeom>
          <a:noFill/>
        </p:spPr>
        <p:txBody>
          <a:bodyPr wrap="square" lIns="0" rIns="0" tIns="0" bIns="0" anchor="t">
            <a:spAutoFit/>
          </a:bodyPr>
          <a:lstStyle/>
          <a:p>
            <a:pPr algn="ctr">
              <a:lnSpc>
                <a:spcPct val="108000"/>
              </a:lnSpc>
              <a:spcBef>
                <a:spcPts val="0"/>
              </a:spcBef>
              <a:spcAft>
                <a:spcPts val="500"/>
              </a:spcAft>
            </a:pPr>
            <a:r>
              <a:rPr sz="1900" b="0">
                <a:solidFill>
                  <a:srgbClr val="546579"/>
                </a:solidFill>
                <a:latin typeface="Arial"/>
              </a:rPr>
              <a:t>→</a:t>
            </a:r>
          </a:p>
        </p:txBody>
      </p:sp>
      <p:sp>
        <p:nvSpPr>
          <p:cNvPr id="20" name="Rounded Rectangle 19"/>
          <p:cNvSpPr/>
          <p:nvPr/>
        </p:nvSpPr>
        <p:spPr>
          <a:xfrm>
            <a:off x="9043416" y="1847088"/>
            <a:ext cx="2542032" cy="722376"/>
          </a:xfrm>
          <a:prstGeom prst="roundRect">
            <a:avLst>
              <a:gd name="adj" fmla="val 6000"/>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162288" y="1965960"/>
            <a:ext cx="2304288" cy="201168"/>
          </a:xfrm>
          <a:prstGeom prst="rect">
            <a:avLst/>
          </a:prstGeom>
          <a:noFill/>
        </p:spPr>
        <p:txBody>
          <a:bodyPr wrap="square" lIns="0" rIns="0" tIns="0" bIns="0" anchor="t">
            <a:spAutoFit/>
          </a:bodyPr>
          <a:lstStyle/>
          <a:p>
            <a:pPr>
              <a:lnSpc>
                <a:spcPct val="108000"/>
              </a:lnSpc>
              <a:spcBef>
                <a:spcPts val="0"/>
              </a:spcBef>
              <a:spcAft>
                <a:spcPts val="500"/>
              </a:spcAft>
            </a:pPr>
            <a:r>
              <a:rPr sz="1200" b="1">
                <a:solidFill>
                  <a:srgbClr val="008778"/>
                </a:solidFill>
                <a:latin typeface="Arial"/>
              </a:rPr>
              <a:t>04  COMPILE</a:t>
            </a:r>
          </a:p>
        </p:txBody>
      </p:sp>
      <p:sp>
        <p:nvSpPr>
          <p:cNvPr id="22" name="TextBox 21"/>
          <p:cNvSpPr txBox="1"/>
          <p:nvPr/>
        </p:nvSpPr>
        <p:spPr>
          <a:xfrm>
            <a:off x="9162288" y="2295144"/>
            <a:ext cx="2304288" cy="219456"/>
          </a:xfrm>
          <a:prstGeom prst="rect">
            <a:avLst/>
          </a:prstGeom>
          <a:noFill/>
        </p:spPr>
        <p:txBody>
          <a:bodyPr wrap="square" lIns="0" rIns="0" tIns="0" bIns="0" anchor="t">
            <a:spAutoFit/>
          </a:bodyPr>
          <a:lstStyle/>
          <a:p>
            <a:pPr>
              <a:lnSpc>
                <a:spcPct val="108000"/>
              </a:lnSpc>
              <a:spcBef>
                <a:spcPts val="0"/>
              </a:spcBef>
              <a:spcAft>
                <a:spcPts val="500"/>
              </a:spcAft>
            </a:pPr>
            <a:r>
              <a:rPr sz="1100" b="0">
                <a:solidFill>
                  <a:srgbClr val="546579"/>
                </a:solidFill>
                <a:latin typeface="Arial"/>
              </a:rPr>
              <a:t>Pinned NPU toolchain</a:t>
            </a:r>
          </a:p>
        </p:txBody>
      </p:sp>
      <p:sp>
        <p:nvSpPr>
          <p:cNvPr id="23" name="Rounded Rectangle 22"/>
          <p:cNvSpPr/>
          <p:nvPr/>
        </p:nvSpPr>
        <p:spPr>
          <a:xfrm>
            <a:off x="594360" y="2816352"/>
            <a:ext cx="3483864" cy="130759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77240" y="2926080"/>
            <a:ext cx="3118104" cy="502920"/>
          </a:xfrm>
          <a:prstGeom prst="rect">
            <a:avLst/>
          </a:prstGeom>
          <a:noFill/>
        </p:spPr>
        <p:txBody>
          <a:bodyPr wrap="square" lIns="0" rIns="0" tIns="0" bIns="0" anchor="t">
            <a:spAutoFit/>
          </a:bodyPr>
          <a:lstStyle/>
          <a:p>
            <a:pPr>
              <a:lnSpc>
                <a:spcPct val="108000"/>
              </a:lnSpc>
              <a:spcBef>
                <a:spcPts val="0"/>
              </a:spcBef>
              <a:spcAft>
                <a:spcPts val="500"/>
              </a:spcAft>
            </a:pPr>
            <a:r>
              <a:rPr sz="3200" b="1">
                <a:solidFill>
                  <a:srgbClr val="008778"/>
                </a:solidFill>
                <a:latin typeface="Arial"/>
              </a:rPr>
              <a:t>22/22</a:t>
            </a:r>
          </a:p>
        </p:txBody>
      </p:sp>
      <p:sp>
        <p:nvSpPr>
          <p:cNvPr id="25" name="TextBox 24"/>
          <p:cNvSpPr txBox="1"/>
          <p:nvPr/>
        </p:nvSpPr>
        <p:spPr>
          <a:xfrm>
            <a:off x="777240" y="3483864"/>
            <a:ext cx="3118104" cy="292608"/>
          </a:xfrm>
          <a:prstGeom prst="rect">
            <a:avLst/>
          </a:prstGeom>
          <a:noFill/>
        </p:spPr>
        <p:txBody>
          <a:bodyPr wrap="square" lIns="0" rIns="0" tIns="0" bIns="0" anchor="t">
            <a:spAutoFit/>
          </a:bodyPr>
          <a:lstStyle/>
          <a:p>
            <a:pPr>
              <a:lnSpc>
                <a:spcPct val="108000"/>
              </a:lnSpc>
              <a:spcBef>
                <a:spcPts val="0"/>
              </a:spcBef>
              <a:spcAft>
                <a:spcPts val="500"/>
              </a:spcAft>
            </a:pPr>
            <a:r>
              <a:rPr sz="1600" b="1">
                <a:solidFill>
                  <a:srgbClr val="142B40"/>
                </a:solidFill>
                <a:latin typeface="Arial"/>
              </a:rPr>
              <a:t>offline cases pass</a:t>
            </a:r>
          </a:p>
        </p:txBody>
      </p:sp>
      <p:sp>
        <p:nvSpPr>
          <p:cNvPr id="26" name="TextBox 25"/>
          <p:cNvSpPr txBox="1"/>
          <p:nvPr/>
        </p:nvSpPr>
        <p:spPr>
          <a:xfrm>
            <a:off x="777240" y="3822191"/>
            <a:ext cx="3118104" cy="301751"/>
          </a:xfrm>
          <a:prstGeom prst="rect">
            <a:avLst/>
          </a:prstGeom>
          <a:noFill/>
        </p:spPr>
        <p:txBody>
          <a:bodyPr wrap="square" lIns="0" rIns="0" tIns="0" bIns="0" anchor="t">
            <a:spAutoFit/>
          </a:bodyPr>
          <a:lstStyle/>
          <a:p>
            <a:pPr>
              <a:lnSpc>
                <a:spcPct val="108000"/>
              </a:lnSpc>
              <a:spcBef>
                <a:spcPts val="0"/>
              </a:spcBef>
              <a:spcAft>
                <a:spcPts val="500"/>
              </a:spcAft>
            </a:pPr>
            <a:r>
              <a:rPr sz="1200" b="0">
                <a:solidFill>
                  <a:srgbClr val="546579"/>
                </a:solidFill>
                <a:latin typeface="Arial"/>
              </a:rPr>
              <a:t>11 AMD + 11 Intel candidates</a:t>
            </a:r>
          </a:p>
        </p:txBody>
      </p:sp>
      <p:sp>
        <p:nvSpPr>
          <p:cNvPr id="27" name="Rounded Rectangle 26"/>
          <p:cNvSpPr/>
          <p:nvPr/>
        </p:nvSpPr>
        <p:spPr>
          <a:xfrm>
            <a:off x="4352544" y="2816352"/>
            <a:ext cx="3483864" cy="130759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4535424" y="2926080"/>
            <a:ext cx="3118104" cy="502920"/>
          </a:xfrm>
          <a:prstGeom prst="rect">
            <a:avLst/>
          </a:prstGeom>
          <a:noFill/>
        </p:spPr>
        <p:txBody>
          <a:bodyPr wrap="square" lIns="0" rIns="0" tIns="0" bIns="0" anchor="t">
            <a:spAutoFit/>
          </a:bodyPr>
          <a:lstStyle/>
          <a:p>
            <a:pPr>
              <a:lnSpc>
                <a:spcPct val="108000"/>
              </a:lnSpc>
              <a:spcBef>
                <a:spcPts val="0"/>
              </a:spcBef>
              <a:spcAft>
                <a:spcPts val="500"/>
              </a:spcAft>
            </a:pPr>
            <a:r>
              <a:rPr sz="3200" b="1">
                <a:solidFill>
                  <a:srgbClr val="008778"/>
                </a:solidFill>
                <a:latin typeface="Arial"/>
              </a:rPr>
              <a:t>264</a:t>
            </a:r>
          </a:p>
        </p:txBody>
      </p:sp>
      <p:sp>
        <p:nvSpPr>
          <p:cNvPr id="29" name="TextBox 28"/>
          <p:cNvSpPr txBox="1"/>
          <p:nvPr/>
        </p:nvSpPr>
        <p:spPr>
          <a:xfrm>
            <a:off x="4535424" y="3483864"/>
            <a:ext cx="3118104" cy="292608"/>
          </a:xfrm>
          <a:prstGeom prst="rect">
            <a:avLst/>
          </a:prstGeom>
          <a:noFill/>
        </p:spPr>
        <p:txBody>
          <a:bodyPr wrap="square" lIns="0" rIns="0" tIns="0" bIns="0" anchor="t">
            <a:spAutoFit/>
          </a:bodyPr>
          <a:lstStyle/>
          <a:p>
            <a:pPr>
              <a:lnSpc>
                <a:spcPct val="108000"/>
              </a:lnSpc>
              <a:spcBef>
                <a:spcPts val="0"/>
              </a:spcBef>
              <a:spcAft>
                <a:spcPts val="500"/>
              </a:spcAft>
            </a:pPr>
            <a:r>
              <a:rPr sz="1600" b="1">
                <a:solidFill>
                  <a:srgbClr val="142B40"/>
                </a:solidFill>
                <a:latin typeface="Arial"/>
              </a:rPr>
              <a:t>host input cases checked</a:t>
            </a:r>
          </a:p>
        </p:txBody>
      </p:sp>
      <p:sp>
        <p:nvSpPr>
          <p:cNvPr id="30" name="TextBox 29"/>
          <p:cNvSpPr txBox="1"/>
          <p:nvPr/>
        </p:nvSpPr>
        <p:spPr>
          <a:xfrm>
            <a:off x="4535424" y="3822191"/>
            <a:ext cx="3118104" cy="301751"/>
          </a:xfrm>
          <a:prstGeom prst="rect">
            <a:avLst/>
          </a:prstGeom>
          <a:noFill/>
        </p:spPr>
        <p:txBody>
          <a:bodyPr wrap="square" lIns="0" rIns="0" tIns="0" bIns="0" anchor="t">
            <a:spAutoFit/>
          </a:bodyPr>
          <a:lstStyle/>
          <a:p>
            <a:pPr>
              <a:lnSpc>
                <a:spcPct val="108000"/>
              </a:lnSpc>
              <a:spcBef>
                <a:spcPts val="0"/>
              </a:spcBef>
              <a:spcAft>
                <a:spcPts val="500"/>
              </a:spcAft>
            </a:pPr>
            <a:r>
              <a:rPr sz="1200" b="0">
                <a:solidFill>
                  <a:srgbClr val="546579"/>
                </a:solidFill>
                <a:latin typeface="Arial"/>
              </a:rPr>
              <a:t>12 inputs × 22 candidates</a:t>
            </a:r>
          </a:p>
        </p:txBody>
      </p:sp>
      <p:sp>
        <p:nvSpPr>
          <p:cNvPr id="31" name="Rounded Rectangle 30"/>
          <p:cNvSpPr/>
          <p:nvPr/>
        </p:nvSpPr>
        <p:spPr>
          <a:xfrm>
            <a:off x="8110727" y="2816352"/>
            <a:ext cx="3483864" cy="130759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293607" y="2926080"/>
            <a:ext cx="3118104" cy="502920"/>
          </a:xfrm>
          <a:prstGeom prst="rect">
            <a:avLst/>
          </a:prstGeom>
          <a:noFill/>
        </p:spPr>
        <p:txBody>
          <a:bodyPr wrap="square" lIns="0" rIns="0" tIns="0" bIns="0" anchor="t">
            <a:spAutoFit/>
          </a:bodyPr>
          <a:lstStyle/>
          <a:p>
            <a:pPr>
              <a:lnSpc>
                <a:spcPct val="108000"/>
              </a:lnSpc>
              <a:spcBef>
                <a:spcPts val="0"/>
              </a:spcBef>
              <a:spcAft>
                <a:spcPts val="500"/>
              </a:spcAft>
            </a:pPr>
            <a:r>
              <a:rPr sz="3200" b="1">
                <a:solidFill>
                  <a:srgbClr val="008778"/>
                </a:solidFill>
                <a:latin typeface="Arial"/>
              </a:rPr>
              <a:t>396</a:t>
            </a:r>
          </a:p>
        </p:txBody>
      </p:sp>
      <p:sp>
        <p:nvSpPr>
          <p:cNvPr id="33" name="TextBox 32"/>
          <p:cNvSpPr txBox="1"/>
          <p:nvPr/>
        </p:nvSpPr>
        <p:spPr>
          <a:xfrm>
            <a:off x="8293607" y="3483864"/>
            <a:ext cx="3118104" cy="292608"/>
          </a:xfrm>
          <a:prstGeom prst="rect">
            <a:avLst/>
          </a:prstGeom>
          <a:noFill/>
        </p:spPr>
        <p:txBody>
          <a:bodyPr wrap="square" lIns="0" rIns="0" tIns="0" bIns="0" anchor="t">
            <a:spAutoFit/>
          </a:bodyPr>
          <a:lstStyle/>
          <a:p>
            <a:pPr>
              <a:lnSpc>
                <a:spcPct val="108000"/>
              </a:lnSpc>
              <a:spcBef>
                <a:spcPts val="0"/>
              </a:spcBef>
              <a:spcAft>
                <a:spcPts val="500"/>
              </a:spcAft>
            </a:pPr>
            <a:r>
              <a:rPr sz="1600" b="1">
                <a:solidFill>
                  <a:srgbClr val="142B40"/>
                </a:solidFill>
                <a:latin typeface="Arial"/>
              </a:rPr>
              <a:t>AMD case / schedule checks</a:t>
            </a:r>
          </a:p>
        </p:txBody>
      </p:sp>
      <p:sp>
        <p:nvSpPr>
          <p:cNvPr id="34" name="TextBox 33"/>
          <p:cNvSpPr txBox="1"/>
          <p:nvPr/>
        </p:nvSpPr>
        <p:spPr>
          <a:xfrm>
            <a:off x="8293607" y="3822191"/>
            <a:ext cx="3118104" cy="301751"/>
          </a:xfrm>
          <a:prstGeom prst="rect">
            <a:avLst/>
          </a:prstGeom>
          <a:noFill/>
        </p:spPr>
        <p:txBody>
          <a:bodyPr wrap="square" lIns="0" rIns="0" tIns="0" bIns="0" anchor="t">
            <a:spAutoFit/>
          </a:bodyPr>
          <a:lstStyle/>
          <a:p>
            <a:pPr>
              <a:lnSpc>
                <a:spcPct val="108000"/>
              </a:lnSpc>
              <a:spcBef>
                <a:spcPts val="0"/>
              </a:spcBef>
              <a:spcAft>
                <a:spcPts val="500"/>
              </a:spcAft>
            </a:pPr>
            <a:r>
              <a:rPr sz="1200" b="0">
                <a:solidFill>
                  <a:srgbClr val="546579"/>
                </a:solidFill>
                <a:latin typeface="Arial"/>
              </a:rPr>
              <a:t>132 inputs × 3 schedules</a:t>
            </a:r>
          </a:p>
        </p:txBody>
      </p:sp>
      <p:sp>
        <p:nvSpPr>
          <p:cNvPr id="35" name="Rectangle 34"/>
          <p:cNvSpPr/>
          <p:nvPr/>
        </p:nvSpPr>
        <p:spPr>
          <a:xfrm>
            <a:off x="594360" y="4352544"/>
            <a:ext cx="10991088" cy="320040"/>
          </a:xfrm>
          <a:prstGeom prst="rect">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749808" y="4411980"/>
            <a:ext cx="5989320" cy="246888"/>
          </a:xfrm>
          <a:prstGeom prst="rect">
            <a:avLst/>
          </a:prstGeom>
          <a:noFill/>
        </p:spPr>
        <p:txBody>
          <a:bodyPr wrap="square" lIns="0" rIns="0" tIns="0" bIns="0" anchor="t">
            <a:spAutoFit/>
          </a:bodyPr>
          <a:lstStyle/>
          <a:p>
            <a:pPr>
              <a:lnSpc>
                <a:spcPct val="108000"/>
              </a:lnSpc>
              <a:spcBef>
                <a:spcPts val="0"/>
              </a:spcBef>
              <a:spcAft>
                <a:spcPts val="500"/>
              </a:spcAft>
            </a:pPr>
            <a:r>
              <a:rPr sz="1300" b="1">
                <a:solidFill>
                  <a:srgbClr val="546579"/>
                </a:solidFill>
                <a:latin typeface="Arial"/>
              </a:rPr>
              <a:t>Current validation gate</a:t>
            </a:r>
          </a:p>
        </p:txBody>
      </p:sp>
      <p:sp>
        <p:nvSpPr>
          <p:cNvPr id="37" name="TextBox 36"/>
          <p:cNvSpPr txBox="1"/>
          <p:nvPr/>
        </p:nvSpPr>
        <p:spPr>
          <a:xfrm>
            <a:off x="6995160" y="4411980"/>
            <a:ext cx="1600200" cy="246888"/>
          </a:xfrm>
          <a:prstGeom prst="rect">
            <a:avLst/>
          </a:prstGeom>
          <a:noFill/>
        </p:spPr>
        <p:txBody>
          <a:bodyPr wrap="square" lIns="0" rIns="0" tIns="0" bIns="0" anchor="t">
            <a:spAutoFit/>
          </a:bodyPr>
          <a:lstStyle/>
          <a:p>
            <a:pPr>
              <a:lnSpc>
                <a:spcPct val="108000"/>
              </a:lnSpc>
              <a:spcBef>
                <a:spcPts val="0"/>
              </a:spcBef>
              <a:spcAft>
                <a:spcPts val="500"/>
              </a:spcAft>
            </a:pPr>
            <a:r>
              <a:rPr sz="1300" b="1">
                <a:solidFill>
                  <a:srgbClr val="546579"/>
                </a:solidFill>
                <a:latin typeface="Arial"/>
              </a:rPr>
              <a:t>AMD</a:t>
            </a:r>
          </a:p>
        </p:txBody>
      </p:sp>
      <p:sp>
        <p:nvSpPr>
          <p:cNvPr id="38" name="TextBox 37"/>
          <p:cNvSpPr txBox="1"/>
          <p:nvPr/>
        </p:nvSpPr>
        <p:spPr>
          <a:xfrm>
            <a:off x="9235440" y="4411980"/>
            <a:ext cx="2176272" cy="246888"/>
          </a:xfrm>
          <a:prstGeom prst="rect">
            <a:avLst/>
          </a:prstGeom>
          <a:noFill/>
        </p:spPr>
        <p:txBody>
          <a:bodyPr wrap="square" lIns="0" rIns="0" tIns="0" bIns="0" anchor="t">
            <a:spAutoFit/>
          </a:bodyPr>
          <a:lstStyle/>
          <a:p>
            <a:pPr>
              <a:lnSpc>
                <a:spcPct val="108000"/>
              </a:lnSpc>
              <a:spcBef>
                <a:spcPts val="0"/>
              </a:spcBef>
              <a:spcAft>
                <a:spcPts val="500"/>
              </a:spcAft>
            </a:pPr>
            <a:r>
              <a:rPr sz="1300" b="1">
                <a:solidFill>
                  <a:srgbClr val="546579"/>
                </a:solidFill>
                <a:latin typeface="Arial"/>
              </a:rPr>
              <a:t>Intel</a:t>
            </a:r>
          </a:p>
        </p:txBody>
      </p:sp>
      <p:sp>
        <p:nvSpPr>
          <p:cNvPr id="39" name="Rectangle 38"/>
          <p:cNvSpPr/>
          <p:nvPr/>
        </p:nvSpPr>
        <p:spPr>
          <a:xfrm>
            <a:off x="594360" y="4681728"/>
            <a:ext cx="10991088" cy="32004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749808" y="4741164"/>
            <a:ext cx="5989320" cy="246888"/>
          </a:xfrm>
          <a:prstGeom prst="rect">
            <a:avLst/>
          </a:prstGeom>
          <a:noFill/>
        </p:spPr>
        <p:txBody>
          <a:bodyPr wrap="square" lIns="0" rIns="0" tIns="0" bIns="0" anchor="t">
            <a:spAutoFit/>
          </a:bodyPr>
          <a:lstStyle/>
          <a:p>
            <a:pPr>
              <a:lnSpc>
                <a:spcPct val="108000"/>
              </a:lnSpc>
              <a:spcBef>
                <a:spcPts val="0"/>
              </a:spcBef>
              <a:spcAft>
                <a:spcPts val="500"/>
              </a:spcAft>
            </a:pPr>
            <a:r>
              <a:rPr sz="1300" b="0">
                <a:solidFill>
                  <a:srgbClr val="142B40"/>
                </a:solidFill>
                <a:latin typeface="Arial"/>
              </a:rPr>
              <a:t>Host output + target compilation</a:t>
            </a:r>
          </a:p>
        </p:txBody>
      </p:sp>
      <p:sp>
        <p:nvSpPr>
          <p:cNvPr id="41" name="TextBox 40"/>
          <p:cNvSpPr txBox="1"/>
          <p:nvPr/>
        </p:nvSpPr>
        <p:spPr>
          <a:xfrm>
            <a:off x="6995160" y="4741164"/>
            <a:ext cx="1600200" cy="246888"/>
          </a:xfrm>
          <a:prstGeom prst="rect">
            <a:avLst/>
          </a:prstGeom>
          <a:noFill/>
        </p:spPr>
        <p:txBody>
          <a:bodyPr wrap="square" lIns="0" rIns="0" tIns="0" bIns="0" anchor="t">
            <a:spAutoFit/>
          </a:bodyPr>
          <a:lstStyle/>
          <a:p>
            <a:pPr>
              <a:lnSpc>
                <a:spcPct val="108000"/>
              </a:lnSpc>
              <a:spcBef>
                <a:spcPts val="0"/>
              </a:spcBef>
              <a:spcAft>
                <a:spcPts val="500"/>
              </a:spcAft>
            </a:pPr>
            <a:r>
              <a:rPr sz="1300" b="0">
                <a:solidFill>
                  <a:srgbClr val="142B40"/>
                </a:solidFill>
                <a:latin typeface="Arial"/>
              </a:rPr>
              <a:t>11/11</a:t>
            </a:r>
          </a:p>
        </p:txBody>
      </p:sp>
      <p:sp>
        <p:nvSpPr>
          <p:cNvPr id="42" name="TextBox 41"/>
          <p:cNvSpPr txBox="1"/>
          <p:nvPr/>
        </p:nvSpPr>
        <p:spPr>
          <a:xfrm>
            <a:off x="9235440" y="4741164"/>
            <a:ext cx="2176272" cy="246888"/>
          </a:xfrm>
          <a:prstGeom prst="rect">
            <a:avLst/>
          </a:prstGeom>
          <a:noFill/>
        </p:spPr>
        <p:txBody>
          <a:bodyPr wrap="square" lIns="0" rIns="0" tIns="0" bIns="0" anchor="t">
            <a:spAutoFit/>
          </a:bodyPr>
          <a:lstStyle/>
          <a:p>
            <a:pPr>
              <a:lnSpc>
                <a:spcPct val="108000"/>
              </a:lnSpc>
              <a:spcBef>
                <a:spcPts val="0"/>
              </a:spcBef>
              <a:spcAft>
                <a:spcPts val="500"/>
              </a:spcAft>
            </a:pPr>
            <a:r>
              <a:rPr sz="1300" b="0">
                <a:solidFill>
                  <a:srgbClr val="142B40"/>
                </a:solidFill>
                <a:latin typeface="Arial"/>
              </a:rPr>
              <a:t>11/11</a:t>
            </a:r>
          </a:p>
        </p:txBody>
      </p:sp>
      <p:sp>
        <p:nvSpPr>
          <p:cNvPr id="43" name="Rectangle 42"/>
          <p:cNvSpPr/>
          <p:nvPr/>
        </p:nvSpPr>
        <p:spPr>
          <a:xfrm>
            <a:off x="594360" y="5010912"/>
            <a:ext cx="10991088" cy="320040"/>
          </a:xfrm>
          <a:prstGeom prst="rect">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749808" y="5070348"/>
            <a:ext cx="5989320" cy="246888"/>
          </a:xfrm>
          <a:prstGeom prst="rect">
            <a:avLst/>
          </a:prstGeom>
          <a:noFill/>
        </p:spPr>
        <p:txBody>
          <a:bodyPr wrap="square" lIns="0" rIns="0" tIns="0" bIns="0" anchor="t">
            <a:spAutoFit/>
          </a:bodyPr>
          <a:lstStyle/>
          <a:p>
            <a:pPr>
              <a:lnSpc>
                <a:spcPct val="108000"/>
              </a:lnSpc>
              <a:spcBef>
                <a:spcPts val="0"/>
              </a:spcBef>
              <a:spcAft>
                <a:spcPts val="500"/>
              </a:spcAft>
            </a:pPr>
            <a:r>
              <a:rPr sz="1300" b="0">
                <a:solidFill>
                  <a:srgbClr val="142B40"/>
                </a:solidFill>
                <a:latin typeface="Arial"/>
              </a:rPr>
              <a:t>FIFO / DMA dataflow simulation</a:t>
            </a:r>
          </a:p>
        </p:txBody>
      </p:sp>
      <p:sp>
        <p:nvSpPr>
          <p:cNvPr id="45" name="TextBox 44"/>
          <p:cNvSpPr txBox="1"/>
          <p:nvPr/>
        </p:nvSpPr>
        <p:spPr>
          <a:xfrm>
            <a:off x="6995160" y="5070348"/>
            <a:ext cx="1600200" cy="246888"/>
          </a:xfrm>
          <a:prstGeom prst="rect">
            <a:avLst/>
          </a:prstGeom>
          <a:noFill/>
        </p:spPr>
        <p:txBody>
          <a:bodyPr wrap="square" lIns="0" rIns="0" tIns="0" bIns="0" anchor="t">
            <a:spAutoFit/>
          </a:bodyPr>
          <a:lstStyle/>
          <a:p>
            <a:pPr>
              <a:lnSpc>
                <a:spcPct val="108000"/>
              </a:lnSpc>
              <a:spcBef>
                <a:spcPts val="0"/>
              </a:spcBef>
              <a:spcAft>
                <a:spcPts val="500"/>
              </a:spcAft>
            </a:pPr>
            <a:r>
              <a:rPr sz="1300" b="0">
                <a:solidFill>
                  <a:srgbClr val="142B40"/>
                </a:solidFill>
                <a:latin typeface="Arial"/>
              </a:rPr>
              <a:t>11/11</a:t>
            </a:r>
          </a:p>
        </p:txBody>
      </p:sp>
      <p:sp>
        <p:nvSpPr>
          <p:cNvPr id="46" name="TextBox 45"/>
          <p:cNvSpPr txBox="1"/>
          <p:nvPr/>
        </p:nvSpPr>
        <p:spPr>
          <a:xfrm>
            <a:off x="9235440" y="5070348"/>
            <a:ext cx="2176272" cy="246888"/>
          </a:xfrm>
          <a:prstGeom prst="rect">
            <a:avLst/>
          </a:prstGeom>
          <a:noFill/>
        </p:spPr>
        <p:txBody>
          <a:bodyPr wrap="square" lIns="0" rIns="0" tIns="0" bIns="0" anchor="t">
            <a:spAutoFit/>
          </a:bodyPr>
          <a:lstStyle/>
          <a:p>
            <a:pPr>
              <a:lnSpc>
                <a:spcPct val="108000"/>
              </a:lnSpc>
              <a:spcBef>
                <a:spcPts val="0"/>
              </a:spcBef>
              <a:spcAft>
                <a:spcPts val="500"/>
              </a:spcAft>
            </a:pPr>
            <a:r>
              <a:rPr sz="1300" b="0">
                <a:solidFill>
                  <a:srgbClr val="142B40"/>
                </a:solidFill>
                <a:latin typeface="Arial"/>
              </a:rPr>
              <a:t>Not implemented</a:t>
            </a:r>
          </a:p>
        </p:txBody>
      </p:sp>
      <p:sp>
        <p:nvSpPr>
          <p:cNvPr id="47" name="Rounded Rectangle 46"/>
          <p:cNvSpPr/>
          <p:nvPr/>
        </p:nvSpPr>
        <p:spPr>
          <a:xfrm>
            <a:off x="594360" y="5486400"/>
            <a:ext cx="10991088" cy="384048"/>
          </a:xfrm>
          <a:prstGeom prst="roundRect">
            <a:avLst>
              <a:gd name="adj" fmla="val 6000"/>
            </a:avLst>
          </a:prstGeom>
          <a:solidFill>
            <a:srgbClr val="FCECE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749808" y="5568696"/>
            <a:ext cx="10680192" cy="246888"/>
          </a:xfrm>
          <a:prstGeom prst="rect">
            <a:avLst/>
          </a:prstGeom>
          <a:noFill/>
        </p:spPr>
        <p:txBody>
          <a:bodyPr wrap="square" lIns="0" rIns="0" tIns="0" bIns="0" anchor="t">
            <a:spAutoFit/>
          </a:bodyPr>
          <a:lstStyle/>
          <a:p>
            <a:pPr>
              <a:lnSpc>
                <a:spcPct val="108000"/>
              </a:lnSpc>
              <a:spcBef>
                <a:spcPts val="0"/>
              </a:spcBef>
              <a:spcAft>
                <a:spcPts val="500"/>
              </a:spcAft>
            </a:pPr>
            <a:r>
              <a:rPr sz="1200" b="1">
                <a:solidFill>
                  <a:srgbClr val="B34746"/>
                </a:solidFill>
                <a:latin typeface="Arial"/>
              </a:rPr>
              <a:t>Faults caught: wrong arithmetic → mismatch   |   bad DMA stride → bounds error   |   missing FIFO release → deadlock</a:t>
            </a:r>
          </a:p>
        </p:txBody>
      </p:sp>
      <p:sp>
        <p:nvSpPr>
          <p:cNvPr id="49" name="TextBox 48"/>
          <p:cNvSpPr txBox="1"/>
          <p:nvPr/>
        </p:nvSpPr>
        <p:spPr>
          <a:xfrm>
            <a:off x="594360" y="6062472"/>
            <a:ext cx="10972800" cy="256032"/>
          </a:xfrm>
          <a:prstGeom prst="rect">
            <a:avLst/>
          </a:prstGeom>
          <a:noFill/>
        </p:spPr>
        <p:txBody>
          <a:bodyPr wrap="square" lIns="0" rIns="0" tIns="0" bIns="0" anchor="t">
            <a:spAutoFit/>
          </a:bodyPr>
          <a:lstStyle/>
          <a:p>
            <a:pPr>
              <a:lnSpc>
                <a:spcPct val="108000"/>
              </a:lnSpc>
              <a:spcBef>
                <a:spcPts val="0"/>
              </a:spcBef>
              <a:spcAft>
                <a:spcPts val="500"/>
              </a:spcAft>
            </a:pPr>
            <a:r>
              <a:rPr sz="1300" b="0">
                <a:solidFill>
                  <a:srgbClr val="546579"/>
                </a:solidFill>
                <a:latin typeface="Arial"/>
              </a:rPr>
              <a:t>These deterministic cases validate the evaluator; the historical LLM experiment has not been rerun under this stricter policy.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789920" cy="210312"/>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008778"/>
                </a:solidFill>
                <a:latin typeface="Arial"/>
              </a:rPr>
              <a:t>04 / AMD AND INTEL SCENARIOS</a:t>
            </a:r>
          </a:p>
        </p:txBody>
      </p:sp>
      <p:sp>
        <p:nvSpPr>
          <p:cNvPr id="3" name="TextBox 2"/>
          <p:cNvSpPr txBox="1"/>
          <p:nvPr/>
        </p:nvSpPr>
        <p:spPr>
          <a:xfrm>
            <a:off x="594360" y="704088"/>
            <a:ext cx="10972800" cy="621792"/>
          </a:xfrm>
          <a:prstGeom prst="rect">
            <a:avLst/>
          </a:prstGeom>
          <a:noFill/>
        </p:spPr>
        <p:txBody>
          <a:bodyPr wrap="square" lIns="0" rIns="0" tIns="0" bIns="0" anchor="t">
            <a:spAutoFit/>
          </a:bodyPr>
          <a:lstStyle/>
          <a:p>
            <a:pPr>
              <a:lnSpc>
                <a:spcPct val="108000"/>
              </a:lnSpc>
              <a:spcBef>
                <a:spcPts val="0"/>
              </a:spcBef>
              <a:spcAft>
                <a:spcPts val="500"/>
              </a:spcAft>
            </a:pPr>
            <a:r>
              <a:rPr sz="3100" b="1">
                <a:solidFill>
                  <a:srgbClr val="142B40"/>
                </a:solidFill>
                <a:latin typeface="Arial"/>
              </a:rPr>
              <a:t>AMD and Intel validate different representations</a:t>
            </a:r>
          </a:p>
        </p:txBody>
      </p:sp>
      <p:sp>
        <p:nvSpPr>
          <p:cNvPr id="4" name="TextBox 3"/>
          <p:cNvSpPr txBox="1"/>
          <p:nvPr/>
        </p:nvSpPr>
        <p:spPr>
          <a:xfrm>
            <a:off x="594360" y="1344168"/>
            <a:ext cx="10972800" cy="475488"/>
          </a:xfrm>
          <a:prstGeom prst="rect">
            <a:avLst/>
          </a:prstGeom>
          <a:noFill/>
        </p:spPr>
        <p:txBody>
          <a:bodyPr wrap="square" lIns="0" rIns="0" tIns="0" bIns="0" anchor="t">
            <a:spAutoFit/>
          </a:bodyPr>
          <a:lstStyle/>
          <a:p>
            <a:pPr>
              <a:lnSpc>
                <a:spcPct val="108000"/>
              </a:lnSpc>
              <a:spcBef>
                <a:spcPts val="0"/>
              </a:spcBef>
              <a:spcAft>
                <a:spcPts val="500"/>
              </a:spcAft>
            </a:pPr>
            <a:r>
              <a:rPr sz="1700" b="0">
                <a:solidFill>
                  <a:srgbClr val="546579"/>
                </a:solidFill>
                <a:latin typeface="Arial"/>
              </a:rPr>
              <a:t>Both paths can check supported computations and build target artifacts inside containers.</a:t>
            </a:r>
          </a:p>
        </p:txBody>
      </p:sp>
      <p:sp>
        <p:nvSpPr>
          <p:cNvPr id="5" name="Rectangle 4"/>
          <p:cNvSpPr/>
          <p:nvPr/>
        </p:nvSpPr>
        <p:spPr>
          <a:xfrm>
            <a:off x="594360" y="6419088"/>
            <a:ext cx="10991088" cy="8229"/>
          </a:xfrm>
          <a:prstGeom prst="rect">
            <a:avLst/>
          </a:prstGeom>
          <a:solidFill>
            <a:srgbClr val="DFE6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94360" y="6519672"/>
            <a:ext cx="10241280" cy="164592"/>
          </a:xfrm>
          <a:prstGeom prst="rect">
            <a:avLst/>
          </a:prstGeom>
          <a:noFill/>
        </p:spPr>
        <p:txBody>
          <a:bodyPr wrap="square" lIns="0" rIns="0" tIns="0" bIns="0" anchor="t">
            <a:spAutoFit/>
          </a:bodyPr>
          <a:lstStyle/>
          <a:p>
            <a:pPr>
              <a:lnSpc>
                <a:spcPct val="108000"/>
              </a:lnSpc>
              <a:spcBef>
                <a:spcPts val="0"/>
              </a:spcBef>
              <a:spcAft>
                <a:spcPts val="500"/>
              </a:spcAft>
            </a:pPr>
            <a:r>
              <a:rPr sz="900" b="0">
                <a:solidFill>
                  <a:srgbClr val="546579"/>
                </a:solidFill>
                <a:latin typeface="Arial"/>
              </a:rPr>
              <a:t>Sources: E2, E3; P1 AMD dataflow pre-simulation; P2 Intel OpenVINO NPU documentation. Links in notes.</a:t>
            </a:r>
          </a:p>
        </p:txBody>
      </p:sp>
      <p:sp>
        <p:nvSpPr>
          <p:cNvPr id="7" name="TextBox 6"/>
          <p:cNvSpPr txBox="1"/>
          <p:nvPr/>
        </p:nvSpPr>
        <p:spPr>
          <a:xfrm>
            <a:off x="11018520" y="6501384"/>
            <a:ext cx="548640" cy="201168"/>
          </a:xfrm>
          <a:prstGeom prst="rect">
            <a:avLst/>
          </a:prstGeom>
          <a:noFill/>
        </p:spPr>
        <p:txBody>
          <a:bodyPr wrap="square" lIns="0" rIns="0" tIns="0" bIns="0" anchor="t">
            <a:spAutoFit/>
          </a:bodyPr>
          <a:lstStyle/>
          <a:p>
            <a:pPr algn="r">
              <a:lnSpc>
                <a:spcPct val="108000"/>
              </a:lnSpc>
              <a:spcBef>
                <a:spcPts val="0"/>
              </a:spcBef>
              <a:spcAft>
                <a:spcPts val="500"/>
              </a:spcAft>
            </a:pPr>
            <a:r>
              <a:rPr sz="1100" b="0">
                <a:solidFill>
                  <a:srgbClr val="546579"/>
                </a:solidFill>
                <a:latin typeface="Arial"/>
              </a:rPr>
              <a:t>05</a:t>
            </a:r>
          </a:p>
        </p:txBody>
      </p:sp>
      <p:sp>
        <p:nvSpPr>
          <p:cNvPr id="8" name="Rounded Rectangle 7"/>
          <p:cNvSpPr/>
          <p:nvPr/>
        </p:nvSpPr>
        <p:spPr>
          <a:xfrm>
            <a:off x="594360" y="1901952"/>
            <a:ext cx="5358384" cy="3877056"/>
          </a:xfrm>
          <a:prstGeom prst="roundRect">
            <a:avLst>
              <a:gd name="adj" fmla="val 6000"/>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594360" y="1901952"/>
            <a:ext cx="5358384" cy="758952"/>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04672" y="2048256"/>
            <a:ext cx="1371600" cy="365760"/>
          </a:xfrm>
          <a:prstGeom prst="rect">
            <a:avLst/>
          </a:prstGeom>
          <a:noFill/>
        </p:spPr>
        <p:txBody>
          <a:bodyPr wrap="square" lIns="0" rIns="0" tIns="0" bIns="0" anchor="t">
            <a:spAutoFit/>
          </a:bodyPr>
          <a:lstStyle/>
          <a:p>
            <a:pPr>
              <a:lnSpc>
                <a:spcPct val="108000"/>
              </a:lnSpc>
              <a:spcBef>
                <a:spcPts val="0"/>
              </a:spcBef>
              <a:spcAft>
                <a:spcPts val="500"/>
              </a:spcAft>
            </a:pPr>
            <a:r>
              <a:rPr sz="2500" b="1">
                <a:solidFill>
                  <a:srgbClr val="008778"/>
                </a:solidFill>
                <a:latin typeface="Arial"/>
              </a:rPr>
              <a:t>AMD</a:t>
            </a:r>
          </a:p>
        </p:txBody>
      </p:sp>
      <p:sp>
        <p:nvSpPr>
          <p:cNvPr id="11" name="TextBox 10"/>
          <p:cNvSpPr txBox="1"/>
          <p:nvPr/>
        </p:nvSpPr>
        <p:spPr>
          <a:xfrm>
            <a:off x="2331720" y="2157984"/>
            <a:ext cx="3374136" cy="274320"/>
          </a:xfrm>
          <a:prstGeom prst="rect">
            <a:avLst/>
          </a:prstGeom>
          <a:noFill/>
        </p:spPr>
        <p:txBody>
          <a:bodyPr wrap="square" lIns="0" rIns="0" tIns="0" bIns="0" anchor="t">
            <a:spAutoFit/>
          </a:bodyPr>
          <a:lstStyle/>
          <a:p>
            <a:pPr algn="r">
              <a:lnSpc>
                <a:spcPct val="108000"/>
              </a:lnSpc>
              <a:spcBef>
                <a:spcPts val="0"/>
              </a:spcBef>
              <a:spcAft>
                <a:spcPts val="500"/>
              </a:spcAft>
            </a:pPr>
            <a:r>
              <a:rPr sz="1400" b="0">
                <a:solidFill>
                  <a:srgbClr val="546579"/>
                </a:solidFill>
                <a:latin typeface="Arial"/>
              </a:rPr>
              <a:t>XDNA2 / npu2 / AIE2P</a:t>
            </a:r>
          </a:p>
        </p:txBody>
      </p:sp>
      <p:sp>
        <p:nvSpPr>
          <p:cNvPr id="12" name="TextBox 11"/>
          <p:cNvSpPr txBox="1"/>
          <p:nvPr/>
        </p:nvSpPr>
        <p:spPr>
          <a:xfrm>
            <a:off x="804672" y="2889504"/>
            <a:ext cx="4937760" cy="219456"/>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008778"/>
                </a:solidFill>
                <a:latin typeface="Arial"/>
              </a:rPr>
              <a:t>EXECUTES ON HOST</a:t>
            </a:r>
          </a:p>
        </p:txBody>
      </p:sp>
      <p:sp>
        <p:nvSpPr>
          <p:cNvPr id="13" name="TextBox 12"/>
          <p:cNvSpPr txBox="1"/>
          <p:nvPr/>
        </p:nvSpPr>
        <p:spPr>
          <a:xfrm>
            <a:off x="804672" y="3191256"/>
            <a:ext cx="4864608" cy="521207"/>
          </a:xfrm>
          <a:prstGeom prst="rect">
            <a:avLst/>
          </a:prstGeom>
          <a:noFill/>
        </p:spPr>
        <p:txBody>
          <a:bodyPr wrap="square" lIns="0" rIns="0" tIns="0" bIns="0" anchor="t">
            <a:spAutoFit/>
          </a:bodyPr>
          <a:lstStyle/>
          <a:p>
            <a:pPr>
              <a:lnSpc>
                <a:spcPct val="108000"/>
              </a:lnSpc>
              <a:spcBef>
                <a:spcPts val="0"/>
              </a:spcBef>
              <a:spcAft>
                <a:spcPts val="500"/>
              </a:spcAft>
            </a:pPr>
            <a:r>
              <a:rPr sz="1600" b="0">
                <a:solidFill>
                  <a:srgbClr val="142B40"/>
                </a:solidFill>
                <a:latin typeface="Arial"/>
              </a:rPr>
              <a:t>Candidate C++ through audited host support; outputs checked against a reference.</a:t>
            </a:r>
          </a:p>
        </p:txBody>
      </p:sp>
      <p:sp>
        <p:nvSpPr>
          <p:cNvPr id="14" name="TextBox 13"/>
          <p:cNvSpPr txBox="1"/>
          <p:nvPr/>
        </p:nvSpPr>
        <p:spPr>
          <a:xfrm>
            <a:off x="804672" y="3822191"/>
            <a:ext cx="4937760" cy="219456"/>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008778"/>
                </a:solidFill>
                <a:latin typeface="Arial"/>
              </a:rPr>
              <a:t>MODELS DATA MOVEMENT</a:t>
            </a:r>
          </a:p>
        </p:txBody>
      </p:sp>
      <p:sp>
        <p:nvSpPr>
          <p:cNvPr id="15" name="TextBox 14"/>
          <p:cNvSpPr txBox="1"/>
          <p:nvPr/>
        </p:nvSpPr>
        <p:spPr>
          <a:xfrm>
            <a:off x="804672" y="4123944"/>
            <a:ext cx="4864608" cy="521207"/>
          </a:xfrm>
          <a:prstGeom prst="rect">
            <a:avLst/>
          </a:prstGeom>
          <a:noFill/>
        </p:spPr>
        <p:txBody>
          <a:bodyPr wrap="square" lIns="0" rIns="0" tIns="0" bIns="0" anchor="t">
            <a:spAutoFit/>
          </a:bodyPr>
          <a:lstStyle/>
          <a:p>
            <a:pPr>
              <a:lnSpc>
                <a:spcPct val="108000"/>
              </a:lnSpc>
              <a:spcBef>
                <a:spcPts val="0"/>
              </a:spcBef>
              <a:spcAft>
                <a:spcPts val="500"/>
              </a:spcAft>
            </a:pPr>
            <a:r>
              <a:rPr sz="1600" b="0">
                <a:solidFill>
                  <a:srgbClr val="142B40"/>
                </a:solidFill>
                <a:latin typeface="Arial"/>
              </a:rPr>
              <a:t>Bounded MLIR FIFO / DMA model checks transfers, bounds and deadlocks.</a:t>
            </a:r>
          </a:p>
        </p:txBody>
      </p:sp>
      <p:sp>
        <p:nvSpPr>
          <p:cNvPr id="16" name="TextBox 15"/>
          <p:cNvSpPr txBox="1"/>
          <p:nvPr/>
        </p:nvSpPr>
        <p:spPr>
          <a:xfrm>
            <a:off x="804672" y="4754880"/>
            <a:ext cx="4937760" cy="219456"/>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008778"/>
                </a:solidFill>
                <a:latin typeface="Arial"/>
              </a:rPr>
              <a:t>COMPILES FOR NPU</a:t>
            </a:r>
          </a:p>
        </p:txBody>
      </p:sp>
      <p:sp>
        <p:nvSpPr>
          <p:cNvPr id="17" name="TextBox 16"/>
          <p:cNvSpPr txBox="1"/>
          <p:nvPr/>
        </p:nvSpPr>
        <p:spPr>
          <a:xfrm>
            <a:off x="804672" y="5056632"/>
            <a:ext cx="4864608" cy="521207"/>
          </a:xfrm>
          <a:prstGeom prst="rect">
            <a:avLst/>
          </a:prstGeom>
          <a:noFill/>
        </p:spPr>
        <p:txBody>
          <a:bodyPr wrap="square" lIns="0" rIns="0" tIns="0" bIns="0" anchor="t">
            <a:spAutoFit/>
          </a:bodyPr>
          <a:lstStyle/>
          <a:p>
            <a:pPr>
              <a:lnSpc>
                <a:spcPct val="108000"/>
              </a:lnSpc>
              <a:spcBef>
                <a:spcPts val="0"/>
              </a:spcBef>
              <a:spcAft>
                <a:spcPts val="500"/>
              </a:spcAft>
            </a:pPr>
            <a:r>
              <a:rPr sz="1600" b="0">
                <a:solidFill>
                  <a:srgbClr val="142B40"/>
                </a:solidFill>
                <a:latin typeface="Arial"/>
              </a:rPr>
              <a:t>MLIR-AIE / Peano produce target artifacts, including xclbin and instructions.</a:t>
            </a:r>
          </a:p>
        </p:txBody>
      </p:sp>
      <p:sp>
        <p:nvSpPr>
          <p:cNvPr id="18" name="Rounded Rectangle 17"/>
          <p:cNvSpPr/>
          <p:nvPr/>
        </p:nvSpPr>
        <p:spPr>
          <a:xfrm>
            <a:off x="6227064" y="1901952"/>
            <a:ext cx="5358384" cy="3877056"/>
          </a:xfrm>
          <a:prstGeom prst="roundRect">
            <a:avLst>
              <a:gd name="adj" fmla="val 6000"/>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6227064" y="1901952"/>
            <a:ext cx="5358384" cy="758952"/>
          </a:xfrm>
          <a:prstGeom prst="roundRect">
            <a:avLst>
              <a:gd name="adj" fmla="val 6000"/>
            </a:avLst>
          </a:prstGeom>
          <a:solidFill>
            <a:srgbClr val="EAF0F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37376" y="2048256"/>
            <a:ext cx="1371600" cy="365760"/>
          </a:xfrm>
          <a:prstGeom prst="rect">
            <a:avLst/>
          </a:prstGeom>
          <a:noFill/>
        </p:spPr>
        <p:txBody>
          <a:bodyPr wrap="square" lIns="0" rIns="0" tIns="0" bIns="0" anchor="t">
            <a:spAutoFit/>
          </a:bodyPr>
          <a:lstStyle/>
          <a:p>
            <a:pPr>
              <a:lnSpc>
                <a:spcPct val="108000"/>
              </a:lnSpc>
              <a:spcBef>
                <a:spcPts val="0"/>
              </a:spcBef>
              <a:spcAft>
                <a:spcPts val="500"/>
              </a:spcAft>
            </a:pPr>
            <a:r>
              <a:rPr sz="2500" b="1">
                <a:solidFill>
                  <a:srgbClr val="356BDC"/>
                </a:solidFill>
                <a:latin typeface="Arial"/>
              </a:rPr>
              <a:t>Intel</a:t>
            </a:r>
          </a:p>
        </p:txBody>
      </p:sp>
      <p:sp>
        <p:nvSpPr>
          <p:cNvPr id="21" name="TextBox 20"/>
          <p:cNvSpPr txBox="1"/>
          <p:nvPr/>
        </p:nvSpPr>
        <p:spPr>
          <a:xfrm>
            <a:off x="7964423" y="2157984"/>
            <a:ext cx="3374136" cy="274320"/>
          </a:xfrm>
          <a:prstGeom prst="rect">
            <a:avLst/>
          </a:prstGeom>
          <a:noFill/>
        </p:spPr>
        <p:txBody>
          <a:bodyPr wrap="square" lIns="0" rIns="0" tIns="0" bIns="0" anchor="t">
            <a:spAutoFit/>
          </a:bodyPr>
          <a:lstStyle/>
          <a:p>
            <a:pPr algn="r">
              <a:lnSpc>
                <a:spcPct val="108000"/>
              </a:lnSpc>
              <a:spcBef>
                <a:spcPts val="0"/>
              </a:spcBef>
              <a:spcAft>
                <a:spcPts val="500"/>
              </a:spcAft>
            </a:pPr>
            <a:r>
              <a:rPr sz="1400" b="0">
                <a:solidFill>
                  <a:srgbClr val="546579"/>
                </a:solidFill>
                <a:latin typeface="Arial"/>
              </a:rPr>
              <a:t>OpenVINO / NPU 4000</a:t>
            </a:r>
          </a:p>
        </p:txBody>
      </p:sp>
      <p:sp>
        <p:nvSpPr>
          <p:cNvPr id="22" name="TextBox 21"/>
          <p:cNvSpPr txBox="1"/>
          <p:nvPr/>
        </p:nvSpPr>
        <p:spPr>
          <a:xfrm>
            <a:off x="6437376" y="2889504"/>
            <a:ext cx="4937760" cy="219456"/>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356BDC"/>
                </a:solidFill>
                <a:latin typeface="Arial"/>
              </a:rPr>
              <a:t>EXECUTES ON CPU</a:t>
            </a:r>
          </a:p>
        </p:txBody>
      </p:sp>
      <p:sp>
        <p:nvSpPr>
          <p:cNvPr id="23" name="TextBox 22"/>
          <p:cNvSpPr txBox="1"/>
          <p:nvPr/>
        </p:nvSpPr>
        <p:spPr>
          <a:xfrm>
            <a:off x="6437376" y="3191256"/>
            <a:ext cx="4864608" cy="521207"/>
          </a:xfrm>
          <a:prstGeom prst="rect">
            <a:avLst/>
          </a:prstGeom>
          <a:noFill/>
        </p:spPr>
        <p:txBody>
          <a:bodyPr wrap="square" lIns="0" rIns="0" tIns="0" bIns="0" anchor="t">
            <a:spAutoFit/>
          </a:bodyPr>
          <a:lstStyle/>
          <a:p>
            <a:pPr>
              <a:lnSpc>
                <a:spcPct val="108000"/>
              </a:lnSpc>
              <a:spcBef>
                <a:spcPts val="0"/>
              </a:spcBef>
              <a:spcAft>
                <a:spcPts val="500"/>
              </a:spcAft>
            </a:pPr>
            <a:r>
              <a:rPr sz="1600" b="0">
                <a:solidFill>
                  <a:srgbClr val="142B40"/>
                </a:solidFill>
                <a:latin typeface="Arial"/>
              </a:rPr>
              <a:t>Candidate OpenVINO graph runs on the CPU backend; outputs checked against a reference.</a:t>
            </a:r>
          </a:p>
        </p:txBody>
      </p:sp>
      <p:sp>
        <p:nvSpPr>
          <p:cNvPr id="24" name="TextBox 23"/>
          <p:cNvSpPr txBox="1"/>
          <p:nvPr/>
        </p:nvSpPr>
        <p:spPr>
          <a:xfrm>
            <a:off x="6437376" y="3822191"/>
            <a:ext cx="4937760" cy="219456"/>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356BDC"/>
                </a:solidFill>
                <a:latin typeface="Arial"/>
              </a:rPr>
              <a:t>CHECKS GRAPH SUPPORT</a:t>
            </a:r>
          </a:p>
        </p:txBody>
      </p:sp>
      <p:sp>
        <p:nvSpPr>
          <p:cNvPr id="25" name="TextBox 24"/>
          <p:cNvSpPr txBox="1"/>
          <p:nvPr/>
        </p:nvSpPr>
        <p:spPr>
          <a:xfrm>
            <a:off x="6437376" y="4123944"/>
            <a:ext cx="4864608" cy="521207"/>
          </a:xfrm>
          <a:prstGeom prst="rect">
            <a:avLst/>
          </a:prstGeom>
          <a:noFill/>
        </p:spPr>
        <p:txBody>
          <a:bodyPr wrap="square" lIns="0" rIns="0" tIns="0" bIns="0" anchor="t">
            <a:spAutoFit/>
          </a:bodyPr>
          <a:lstStyle/>
          <a:p>
            <a:pPr>
              <a:lnSpc>
                <a:spcPct val="108000"/>
              </a:lnSpc>
              <a:spcBef>
                <a:spcPts val="0"/>
              </a:spcBef>
              <a:spcAft>
                <a:spcPts val="500"/>
              </a:spcAft>
            </a:pPr>
            <a:r>
              <a:rPr sz="1600" b="0">
                <a:solidFill>
                  <a:srgbClr val="142B40"/>
                </a:solidFill>
                <a:latin typeface="Arial"/>
              </a:rPr>
              <a:t>Offline NPU compilation tests whether the pinned compiler accepts the graph.</a:t>
            </a:r>
          </a:p>
        </p:txBody>
      </p:sp>
      <p:sp>
        <p:nvSpPr>
          <p:cNvPr id="26" name="TextBox 25"/>
          <p:cNvSpPr txBox="1"/>
          <p:nvPr/>
        </p:nvSpPr>
        <p:spPr>
          <a:xfrm>
            <a:off x="6437376" y="4754880"/>
            <a:ext cx="4937760" cy="219456"/>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356BDC"/>
                </a:solidFill>
                <a:latin typeface="Arial"/>
              </a:rPr>
              <a:t>COMPILES FOR NPU</a:t>
            </a:r>
          </a:p>
        </p:txBody>
      </p:sp>
      <p:sp>
        <p:nvSpPr>
          <p:cNvPr id="27" name="TextBox 26"/>
          <p:cNvSpPr txBox="1"/>
          <p:nvPr/>
        </p:nvSpPr>
        <p:spPr>
          <a:xfrm>
            <a:off x="6437376" y="5056632"/>
            <a:ext cx="4864608" cy="521207"/>
          </a:xfrm>
          <a:prstGeom prst="rect">
            <a:avLst/>
          </a:prstGeom>
          <a:noFill/>
        </p:spPr>
        <p:txBody>
          <a:bodyPr wrap="square" lIns="0" rIns="0" tIns="0" bIns="0" anchor="t">
            <a:spAutoFit/>
          </a:bodyPr>
          <a:lstStyle/>
          <a:p>
            <a:pPr>
              <a:lnSpc>
                <a:spcPct val="108000"/>
              </a:lnSpc>
              <a:spcBef>
                <a:spcPts val="0"/>
              </a:spcBef>
              <a:spcAft>
                <a:spcPts val="500"/>
              </a:spcAft>
            </a:pPr>
            <a:r>
              <a:rPr sz="1600" b="0">
                <a:solidFill>
                  <a:srgbClr val="142B40"/>
                </a:solidFill>
                <a:latin typeface="Arial"/>
              </a:rPr>
              <a:t>The compiler exports an NPU blob. CPU execution does not execute that blob.</a:t>
            </a:r>
          </a:p>
        </p:txBody>
      </p:sp>
      <p:sp>
        <p:nvSpPr>
          <p:cNvPr id="28" name="Rounded Rectangle 27"/>
          <p:cNvSpPr/>
          <p:nvPr/>
        </p:nvSpPr>
        <p:spPr>
          <a:xfrm>
            <a:off x="594360" y="5971032"/>
            <a:ext cx="10991088" cy="320040"/>
          </a:xfrm>
          <a:prstGeom prst="roundRect">
            <a:avLst>
              <a:gd name="adj" fmla="val 6000"/>
            </a:avLst>
          </a:prstGeom>
          <a:solidFill>
            <a:srgbClr val="FFF2D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6025896"/>
            <a:ext cx="10698480" cy="228600"/>
          </a:xfrm>
          <a:prstGeom prst="rect">
            <a:avLst/>
          </a:prstGeom>
          <a:noFill/>
        </p:spPr>
        <p:txBody>
          <a:bodyPr wrap="square" lIns="0" rIns="0" tIns="0" bIns="0" anchor="t">
            <a:spAutoFit/>
          </a:bodyPr>
          <a:lstStyle/>
          <a:p>
            <a:pPr>
              <a:lnSpc>
                <a:spcPct val="108000"/>
              </a:lnSpc>
              <a:spcBef>
                <a:spcPts val="0"/>
              </a:spcBef>
              <a:spcAft>
                <a:spcPts val="500"/>
              </a:spcAft>
            </a:pPr>
            <a:r>
              <a:rPr sz="1300" b="1">
                <a:solidFill>
                  <a:srgbClr val="82510A"/>
                </a:solidFill>
                <a:latin typeface="Arial"/>
              </a:rPr>
              <a:t>Shared gap: 0 exact target-binary executions; all 22 corpus cases report no validated target executor.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2337"/>
        </a:solidFill>
        <a:effectLst/>
      </p:bgPr>
    </p:bg>
    <p:spTree>
      <p:nvGrpSpPr>
        <p:cNvPr id="1" name=""/>
        <p:cNvGrpSpPr/>
        <p:nvPr/>
      </p:nvGrpSpPr>
      <p:grpSpPr/>
      <p:sp>
        <p:nvSpPr>
          <p:cNvPr id="2" name="TextBox 1"/>
          <p:cNvSpPr txBox="1"/>
          <p:nvPr/>
        </p:nvSpPr>
        <p:spPr>
          <a:xfrm>
            <a:off x="594360" y="274320"/>
            <a:ext cx="10789920" cy="210312"/>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5BD5C4"/>
                </a:solidFill>
                <a:latin typeface="Arial"/>
              </a:rPr>
              <a:t>05 / WHY HARDWARE MATTERS FOR EDGE AI</a:t>
            </a:r>
          </a:p>
        </p:txBody>
      </p:sp>
      <p:sp>
        <p:nvSpPr>
          <p:cNvPr id="3" name="TextBox 2"/>
          <p:cNvSpPr txBox="1"/>
          <p:nvPr/>
        </p:nvSpPr>
        <p:spPr>
          <a:xfrm>
            <a:off x="594360" y="704088"/>
            <a:ext cx="10972800" cy="621792"/>
          </a:xfrm>
          <a:prstGeom prst="rect">
            <a:avLst/>
          </a:prstGeom>
          <a:noFill/>
        </p:spPr>
        <p:txBody>
          <a:bodyPr wrap="square" lIns="0" rIns="0" tIns="0" bIns="0" anchor="t">
            <a:spAutoFit/>
          </a:bodyPr>
          <a:lstStyle/>
          <a:p>
            <a:pPr>
              <a:lnSpc>
                <a:spcPct val="108000"/>
              </a:lnSpc>
              <a:spcBef>
                <a:spcPts val="0"/>
              </a:spcBef>
              <a:spcAft>
                <a:spcPts val="500"/>
              </a:spcAft>
            </a:pPr>
            <a:r>
              <a:rPr sz="3100" b="1">
                <a:solidFill>
                  <a:srgbClr val="FFFFFF"/>
                </a:solidFill>
                <a:latin typeface="Arial"/>
              </a:rPr>
              <a:t>A correct kernel still needs a hardware benchmark</a:t>
            </a:r>
          </a:p>
        </p:txBody>
      </p:sp>
      <p:sp>
        <p:nvSpPr>
          <p:cNvPr id="4" name="TextBox 3"/>
          <p:cNvSpPr txBox="1"/>
          <p:nvPr/>
        </p:nvSpPr>
        <p:spPr>
          <a:xfrm>
            <a:off x="594360" y="1344168"/>
            <a:ext cx="10972800" cy="475488"/>
          </a:xfrm>
          <a:prstGeom prst="rect">
            <a:avLst/>
          </a:prstGeom>
          <a:noFill/>
        </p:spPr>
        <p:txBody>
          <a:bodyPr wrap="square" lIns="0" rIns="0" tIns="0" bIns="0" anchor="t">
            <a:spAutoFit/>
          </a:bodyPr>
          <a:lstStyle/>
          <a:p>
            <a:pPr>
              <a:lnSpc>
                <a:spcPct val="108000"/>
              </a:lnSpc>
              <a:spcBef>
                <a:spcPts val="0"/>
              </a:spcBef>
              <a:spcAft>
                <a:spcPts val="500"/>
              </a:spcAft>
            </a:pPr>
            <a:r>
              <a:rPr sz="1700" b="0">
                <a:solidFill>
                  <a:srgbClr val="BCCCDD"/>
                </a:solidFill>
                <a:latin typeface="Arial"/>
              </a:rPr>
              <a:t>Edge workloads need acceptable latency and energy use as well as correct outputs.</a:t>
            </a:r>
          </a:p>
        </p:txBody>
      </p:sp>
      <p:sp>
        <p:nvSpPr>
          <p:cNvPr id="5" name="Rectangle 4"/>
          <p:cNvSpPr/>
          <p:nvPr/>
        </p:nvSpPr>
        <p:spPr>
          <a:xfrm>
            <a:off x="594360" y="6419088"/>
            <a:ext cx="10991088" cy="8229"/>
          </a:xfrm>
          <a:prstGeom prst="rect">
            <a:avLst/>
          </a:prstGeom>
          <a:solidFill>
            <a:srgbClr val="3A4C6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94360" y="6519672"/>
            <a:ext cx="10241280" cy="164592"/>
          </a:xfrm>
          <a:prstGeom prst="rect">
            <a:avLst/>
          </a:prstGeom>
          <a:noFill/>
        </p:spPr>
        <p:txBody>
          <a:bodyPr wrap="square" lIns="0" rIns="0" tIns="0" bIns="0" anchor="t">
            <a:spAutoFit/>
          </a:bodyPr>
          <a:lstStyle/>
          <a:p>
            <a:pPr>
              <a:lnSpc>
                <a:spcPct val="108000"/>
              </a:lnSpc>
              <a:spcBef>
                <a:spcPts val="0"/>
              </a:spcBef>
              <a:spcAft>
                <a:spcPts val="500"/>
              </a:spcAft>
            </a:pPr>
            <a:r>
              <a:rPr sz="900" b="0">
                <a:solidFill>
                  <a:srgbClr val="BCCCDD"/>
                </a:solidFill>
                <a:latin typeface="Arial"/>
              </a:rPr>
              <a:t>Sources: E2, E3; P3 MLPerf Tiny (quality, latency, optional energy); P4 MLPerf Edge power methodology.</a:t>
            </a:r>
          </a:p>
        </p:txBody>
      </p:sp>
      <p:sp>
        <p:nvSpPr>
          <p:cNvPr id="7" name="TextBox 6"/>
          <p:cNvSpPr txBox="1"/>
          <p:nvPr/>
        </p:nvSpPr>
        <p:spPr>
          <a:xfrm>
            <a:off x="11018520" y="6501384"/>
            <a:ext cx="548640" cy="201168"/>
          </a:xfrm>
          <a:prstGeom prst="rect">
            <a:avLst/>
          </a:prstGeom>
          <a:noFill/>
        </p:spPr>
        <p:txBody>
          <a:bodyPr wrap="square" lIns="0" rIns="0" tIns="0" bIns="0" anchor="t">
            <a:spAutoFit/>
          </a:bodyPr>
          <a:lstStyle/>
          <a:p>
            <a:pPr algn="r">
              <a:lnSpc>
                <a:spcPct val="108000"/>
              </a:lnSpc>
              <a:spcBef>
                <a:spcPts val="0"/>
              </a:spcBef>
              <a:spcAft>
                <a:spcPts val="500"/>
              </a:spcAft>
            </a:pPr>
            <a:r>
              <a:rPr sz="1100" b="0">
                <a:solidFill>
                  <a:srgbClr val="BCCCDD"/>
                </a:solidFill>
                <a:latin typeface="Arial"/>
              </a:rPr>
              <a:t>06</a:t>
            </a:r>
          </a:p>
        </p:txBody>
      </p:sp>
      <p:sp>
        <p:nvSpPr>
          <p:cNvPr id="8" name="Rounded Rectangle 7"/>
          <p:cNvSpPr/>
          <p:nvPr/>
        </p:nvSpPr>
        <p:spPr>
          <a:xfrm>
            <a:off x="594360" y="2011680"/>
            <a:ext cx="3483864" cy="3017520"/>
          </a:xfrm>
          <a:prstGeom prst="roundRect">
            <a:avLst>
              <a:gd name="adj" fmla="val 6000"/>
            </a:avLst>
          </a:prstGeom>
          <a:solidFill>
            <a:srgbClr val="1C334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95528" y="2258568"/>
            <a:ext cx="3081528" cy="274320"/>
          </a:xfrm>
          <a:prstGeom prst="rect">
            <a:avLst/>
          </a:prstGeom>
          <a:noFill/>
        </p:spPr>
        <p:txBody>
          <a:bodyPr wrap="square" lIns="0" rIns="0" tIns="0" bIns="0" anchor="t">
            <a:spAutoFit/>
          </a:bodyPr>
          <a:lstStyle/>
          <a:p>
            <a:pPr>
              <a:lnSpc>
                <a:spcPct val="108000"/>
              </a:lnSpc>
              <a:spcBef>
                <a:spcPts val="0"/>
              </a:spcBef>
              <a:spcAft>
                <a:spcPts val="500"/>
              </a:spcAft>
            </a:pPr>
            <a:r>
              <a:rPr sz="1200" b="1">
                <a:solidFill>
                  <a:srgbClr val="5BD5C4"/>
                </a:solidFill>
                <a:latin typeface="Arial"/>
              </a:rPr>
              <a:t>CORRECTNESS</a:t>
            </a:r>
          </a:p>
        </p:txBody>
      </p:sp>
      <p:sp>
        <p:nvSpPr>
          <p:cNvPr id="10" name="TextBox 9"/>
          <p:cNvSpPr txBox="1"/>
          <p:nvPr/>
        </p:nvSpPr>
        <p:spPr>
          <a:xfrm>
            <a:off x="795528" y="2779776"/>
            <a:ext cx="3081528" cy="475488"/>
          </a:xfrm>
          <a:prstGeom prst="rect">
            <a:avLst/>
          </a:prstGeom>
          <a:noFill/>
        </p:spPr>
        <p:txBody>
          <a:bodyPr wrap="square" lIns="0" rIns="0" tIns="0" bIns="0" anchor="t">
            <a:spAutoFit/>
          </a:bodyPr>
          <a:lstStyle/>
          <a:p>
            <a:pPr>
              <a:lnSpc>
                <a:spcPct val="108000"/>
              </a:lnSpc>
              <a:spcBef>
                <a:spcPts val="0"/>
              </a:spcBef>
              <a:spcAft>
                <a:spcPts val="500"/>
              </a:spcAft>
            </a:pPr>
            <a:r>
              <a:rPr sz="2800" b="1">
                <a:solidFill>
                  <a:srgbClr val="FFFFFF"/>
                </a:solidFill>
                <a:latin typeface="Arial"/>
              </a:rPr>
              <a:t>Offline checked</a:t>
            </a:r>
          </a:p>
        </p:txBody>
      </p:sp>
      <p:sp>
        <p:nvSpPr>
          <p:cNvPr id="11" name="TextBox 10"/>
          <p:cNvSpPr txBox="1"/>
          <p:nvPr/>
        </p:nvSpPr>
        <p:spPr>
          <a:xfrm>
            <a:off x="795528" y="3511296"/>
            <a:ext cx="3044952" cy="685800"/>
          </a:xfrm>
          <a:prstGeom prst="rect">
            <a:avLst/>
          </a:prstGeom>
          <a:noFill/>
        </p:spPr>
        <p:txBody>
          <a:bodyPr wrap="square" lIns="0" rIns="0" tIns="0" bIns="0" anchor="t">
            <a:spAutoFit/>
          </a:bodyPr>
          <a:lstStyle/>
          <a:p>
            <a:pPr>
              <a:lnSpc>
                <a:spcPct val="108000"/>
              </a:lnSpc>
              <a:spcBef>
                <a:spcPts val="0"/>
              </a:spcBef>
              <a:spcAft>
                <a:spcPts val="500"/>
              </a:spcAft>
            </a:pPr>
            <a:r>
              <a:rPr sz="2000" b="0">
                <a:solidFill>
                  <a:srgbClr val="FFFFFF"/>
                </a:solidFill>
                <a:latin typeface="Arial"/>
              </a:rPr>
              <a:t>Does it compute the right result?</a:t>
            </a:r>
          </a:p>
        </p:txBody>
      </p:sp>
      <p:sp>
        <p:nvSpPr>
          <p:cNvPr id="12" name="TextBox 11"/>
          <p:cNvSpPr txBox="1"/>
          <p:nvPr/>
        </p:nvSpPr>
        <p:spPr>
          <a:xfrm>
            <a:off x="795528" y="4425696"/>
            <a:ext cx="3081528" cy="539496"/>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BCCCDD"/>
                </a:solidFill>
                <a:latin typeface="Arial"/>
              </a:rPr>
              <a:t>Source / graph evidence exists.</a:t>
            </a:r>
          </a:p>
          <a:p>
            <a:pPr>
              <a:lnSpc>
                <a:spcPct val="108000"/>
              </a:lnSpc>
              <a:spcBef>
                <a:spcPts val="0"/>
              </a:spcBef>
              <a:spcAft>
                <a:spcPts val="500"/>
              </a:spcAft>
            </a:pPr>
            <a:r>
              <a:rPr sz="1400" b="0">
                <a:solidFill>
                  <a:srgbClr val="BCCCDD"/>
                </a:solidFill>
                <a:latin typeface="Arial"/>
              </a:rPr>
              <a:t>Exact binary still needs NPU testing.</a:t>
            </a:r>
          </a:p>
        </p:txBody>
      </p:sp>
      <p:sp>
        <p:nvSpPr>
          <p:cNvPr id="13" name="Rounded Rectangle 12"/>
          <p:cNvSpPr/>
          <p:nvPr/>
        </p:nvSpPr>
        <p:spPr>
          <a:xfrm>
            <a:off x="4352544" y="2011680"/>
            <a:ext cx="3483864" cy="3017520"/>
          </a:xfrm>
          <a:prstGeom prst="roundRect">
            <a:avLst>
              <a:gd name="adj" fmla="val 6000"/>
            </a:avLst>
          </a:prstGeom>
          <a:solidFill>
            <a:srgbClr val="1C334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53712" y="2258568"/>
            <a:ext cx="3081528" cy="274320"/>
          </a:xfrm>
          <a:prstGeom prst="rect">
            <a:avLst/>
          </a:prstGeom>
          <a:noFill/>
        </p:spPr>
        <p:txBody>
          <a:bodyPr wrap="square" lIns="0" rIns="0" tIns="0" bIns="0" anchor="t">
            <a:spAutoFit/>
          </a:bodyPr>
          <a:lstStyle/>
          <a:p>
            <a:pPr>
              <a:lnSpc>
                <a:spcPct val="108000"/>
              </a:lnSpc>
              <a:spcBef>
                <a:spcPts val="0"/>
              </a:spcBef>
              <a:spcAft>
                <a:spcPts val="500"/>
              </a:spcAft>
            </a:pPr>
            <a:r>
              <a:rPr sz="1200" b="1">
                <a:solidFill>
                  <a:srgbClr val="F4BD69"/>
                </a:solidFill>
                <a:latin typeface="Arial"/>
              </a:rPr>
              <a:t>PERFORMANCE</a:t>
            </a:r>
          </a:p>
        </p:txBody>
      </p:sp>
      <p:sp>
        <p:nvSpPr>
          <p:cNvPr id="15" name="TextBox 14"/>
          <p:cNvSpPr txBox="1"/>
          <p:nvPr/>
        </p:nvSpPr>
        <p:spPr>
          <a:xfrm>
            <a:off x="4553712" y="2779776"/>
            <a:ext cx="3081528" cy="475488"/>
          </a:xfrm>
          <a:prstGeom prst="rect">
            <a:avLst/>
          </a:prstGeom>
          <a:noFill/>
        </p:spPr>
        <p:txBody>
          <a:bodyPr wrap="square" lIns="0" rIns="0" tIns="0" bIns="0" anchor="t">
            <a:spAutoFit/>
          </a:bodyPr>
          <a:lstStyle/>
          <a:p>
            <a:pPr>
              <a:lnSpc>
                <a:spcPct val="108000"/>
              </a:lnSpc>
              <a:spcBef>
                <a:spcPts val="0"/>
              </a:spcBef>
              <a:spcAft>
                <a:spcPts val="500"/>
              </a:spcAft>
            </a:pPr>
            <a:r>
              <a:rPr sz="2800" b="1">
                <a:solidFill>
                  <a:srgbClr val="FFFFFF"/>
                </a:solidFill>
                <a:latin typeface="Arial"/>
              </a:rPr>
              <a:t>Unmeasured</a:t>
            </a:r>
          </a:p>
        </p:txBody>
      </p:sp>
      <p:sp>
        <p:nvSpPr>
          <p:cNvPr id="16" name="TextBox 15"/>
          <p:cNvSpPr txBox="1"/>
          <p:nvPr/>
        </p:nvSpPr>
        <p:spPr>
          <a:xfrm>
            <a:off x="4553712" y="3511296"/>
            <a:ext cx="3044952" cy="685800"/>
          </a:xfrm>
          <a:prstGeom prst="rect">
            <a:avLst/>
          </a:prstGeom>
          <a:noFill/>
        </p:spPr>
        <p:txBody>
          <a:bodyPr wrap="square" lIns="0" rIns="0" tIns="0" bIns="0" anchor="t">
            <a:spAutoFit/>
          </a:bodyPr>
          <a:lstStyle/>
          <a:p>
            <a:pPr>
              <a:lnSpc>
                <a:spcPct val="108000"/>
              </a:lnSpc>
              <a:spcBef>
                <a:spcPts val="0"/>
              </a:spcBef>
              <a:spcAft>
                <a:spcPts val="500"/>
              </a:spcAft>
            </a:pPr>
            <a:r>
              <a:rPr sz="2000" b="0">
                <a:solidFill>
                  <a:srgbClr val="FFFFFF"/>
                </a:solidFill>
                <a:latin typeface="Arial"/>
              </a:rPr>
              <a:t>Does it meet the response budget?</a:t>
            </a:r>
          </a:p>
        </p:txBody>
      </p:sp>
      <p:sp>
        <p:nvSpPr>
          <p:cNvPr id="17" name="TextBox 16"/>
          <p:cNvSpPr txBox="1"/>
          <p:nvPr/>
        </p:nvSpPr>
        <p:spPr>
          <a:xfrm>
            <a:off x="4553712" y="4425696"/>
            <a:ext cx="3081528" cy="539496"/>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BCCCDD"/>
                </a:solidFill>
                <a:latin typeface="Arial"/>
              </a:rPr>
              <a:t>Measure NPU p50 / p95 latency</a:t>
            </a:r>
          </a:p>
          <a:p>
            <a:pPr>
              <a:lnSpc>
                <a:spcPct val="108000"/>
              </a:lnSpc>
              <a:spcBef>
                <a:spcPts val="0"/>
              </a:spcBef>
              <a:spcAft>
                <a:spcPts val="500"/>
              </a:spcAft>
            </a:pPr>
            <a:r>
              <a:rPr sz="1400" b="0">
                <a:solidFill>
                  <a:srgbClr val="BCCCDD"/>
                </a:solidFill>
                <a:latin typeface="Arial"/>
              </a:rPr>
              <a:t>and completed work per second.</a:t>
            </a:r>
          </a:p>
        </p:txBody>
      </p:sp>
      <p:sp>
        <p:nvSpPr>
          <p:cNvPr id="18" name="Rounded Rectangle 17"/>
          <p:cNvSpPr/>
          <p:nvPr/>
        </p:nvSpPr>
        <p:spPr>
          <a:xfrm>
            <a:off x="8110727" y="2011680"/>
            <a:ext cx="3483864" cy="3017520"/>
          </a:xfrm>
          <a:prstGeom prst="roundRect">
            <a:avLst>
              <a:gd name="adj" fmla="val 6000"/>
            </a:avLst>
          </a:prstGeom>
          <a:solidFill>
            <a:srgbClr val="1C334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311896" y="2258568"/>
            <a:ext cx="3081528" cy="274320"/>
          </a:xfrm>
          <a:prstGeom prst="rect">
            <a:avLst/>
          </a:prstGeom>
          <a:noFill/>
        </p:spPr>
        <p:txBody>
          <a:bodyPr wrap="square" lIns="0" rIns="0" tIns="0" bIns="0" anchor="t">
            <a:spAutoFit/>
          </a:bodyPr>
          <a:lstStyle/>
          <a:p>
            <a:pPr>
              <a:lnSpc>
                <a:spcPct val="108000"/>
              </a:lnSpc>
              <a:spcBef>
                <a:spcPts val="0"/>
              </a:spcBef>
              <a:spcAft>
                <a:spcPts val="500"/>
              </a:spcAft>
            </a:pPr>
            <a:r>
              <a:rPr sz="1200" b="1">
                <a:solidFill>
                  <a:srgbClr val="F4BD69"/>
                </a:solidFill>
                <a:latin typeface="Arial"/>
              </a:rPr>
              <a:t>POWER + ENERGY</a:t>
            </a:r>
          </a:p>
        </p:txBody>
      </p:sp>
      <p:sp>
        <p:nvSpPr>
          <p:cNvPr id="20" name="TextBox 19"/>
          <p:cNvSpPr txBox="1"/>
          <p:nvPr/>
        </p:nvSpPr>
        <p:spPr>
          <a:xfrm>
            <a:off x="8311896" y="2779776"/>
            <a:ext cx="3081528" cy="475488"/>
          </a:xfrm>
          <a:prstGeom prst="rect">
            <a:avLst/>
          </a:prstGeom>
          <a:noFill/>
        </p:spPr>
        <p:txBody>
          <a:bodyPr wrap="square" lIns="0" rIns="0" tIns="0" bIns="0" anchor="t">
            <a:spAutoFit/>
          </a:bodyPr>
          <a:lstStyle/>
          <a:p>
            <a:pPr>
              <a:lnSpc>
                <a:spcPct val="108000"/>
              </a:lnSpc>
              <a:spcBef>
                <a:spcPts val="0"/>
              </a:spcBef>
              <a:spcAft>
                <a:spcPts val="500"/>
              </a:spcAft>
            </a:pPr>
            <a:r>
              <a:rPr sz="2800" b="1">
                <a:solidFill>
                  <a:srgbClr val="FFFFFF"/>
                </a:solidFill>
                <a:latin typeface="Arial"/>
              </a:rPr>
              <a:t>Unmeasured</a:t>
            </a:r>
          </a:p>
        </p:txBody>
      </p:sp>
      <p:sp>
        <p:nvSpPr>
          <p:cNvPr id="21" name="TextBox 20"/>
          <p:cNvSpPr txBox="1"/>
          <p:nvPr/>
        </p:nvSpPr>
        <p:spPr>
          <a:xfrm>
            <a:off x="8311896" y="3511296"/>
            <a:ext cx="3044952" cy="685800"/>
          </a:xfrm>
          <a:prstGeom prst="rect">
            <a:avLst/>
          </a:prstGeom>
          <a:noFill/>
        </p:spPr>
        <p:txBody>
          <a:bodyPr wrap="square" lIns="0" rIns="0" tIns="0" bIns="0" anchor="t">
            <a:spAutoFit/>
          </a:bodyPr>
          <a:lstStyle/>
          <a:p>
            <a:pPr>
              <a:lnSpc>
                <a:spcPct val="108000"/>
              </a:lnSpc>
              <a:spcBef>
                <a:spcPts val="0"/>
              </a:spcBef>
              <a:spcAft>
                <a:spcPts val="500"/>
              </a:spcAft>
            </a:pPr>
            <a:r>
              <a:rPr sz="2000" b="0">
                <a:solidFill>
                  <a:srgbClr val="FFFFFF"/>
                </a:solidFill>
                <a:latin typeface="Arial"/>
              </a:rPr>
              <a:t>Does it fit the device’s energy budget?</a:t>
            </a:r>
          </a:p>
        </p:txBody>
      </p:sp>
      <p:sp>
        <p:nvSpPr>
          <p:cNvPr id="22" name="TextBox 21"/>
          <p:cNvSpPr txBox="1"/>
          <p:nvPr/>
        </p:nvSpPr>
        <p:spPr>
          <a:xfrm>
            <a:off x="8311896" y="4425696"/>
            <a:ext cx="3081528" cy="539496"/>
          </a:xfrm>
          <a:prstGeom prst="rect">
            <a:avLst/>
          </a:prstGeom>
          <a:noFill/>
        </p:spPr>
        <p:txBody>
          <a:bodyPr wrap="square" lIns="0" rIns="0" tIns="0" bIns="0" anchor="t">
            <a:spAutoFit/>
          </a:bodyPr>
          <a:lstStyle/>
          <a:p>
            <a:pPr>
              <a:lnSpc>
                <a:spcPct val="108000"/>
              </a:lnSpc>
              <a:spcBef>
                <a:spcPts val="0"/>
              </a:spcBef>
              <a:spcAft>
                <a:spcPts val="500"/>
              </a:spcAft>
            </a:pPr>
            <a:r>
              <a:rPr sz="1400" b="0">
                <a:solidFill>
                  <a:srgbClr val="BCCCDD"/>
                </a:solidFill>
                <a:latin typeface="Arial"/>
              </a:rPr>
              <a:t>Measure average watts and</a:t>
            </a:r>
          </a:p>
          <a:p>
            <a:pPr>
              <a:lnSpc>
                <a:spcPct val="108000"/>
              </a:lnSpc>
              <a:spcBef>
                <a:spcPts val="0"/>
              </a:spcBef>
              <a:spcAft>
                <a:spcPts val="500"/>
              </a:spcAft>
            </a:pPr>
            <a:r>
              <a:rPr sz="1400" b="0">
                <a:solidFill>
                  <a:srgbClr val="BCCCDD"/>
                </a:solidFill>
                <a:latin typeface="Arial"/>
              </a:rPr>
              <a:t>millijoules per completed inference.</a:t>
            </a:r>
          </a:p>
        </p:txBody>
      </p:sp>
      <p:sp>
        <p:nvSpPr>
          <p:cNvPr id="23" name="TextBox 22"/>
          <p:cNvSpPr txBox="1"/>
          <p:nvPr/>
        </p:nvSpPr>
        <p:spPr>
          <a:xfrm>
            <a:off x="594360" y="5385816"/>
            <a:ext cx="10972800" cy="402336"/>
          </a:xfrm>
          <a:prstGeom prst="rect">
            <a:avLst/>
          </a:prstGeom>
          <a:noFill/>
        </p:spPr>
        <p:txBody>
          <a:bodyPr wrap="square" lIns="0" rIns="0" tIns="0" bIns="0" anchor="t">
            <a:spAutoFit/>
          </a:bodyPr>
          <a:lstStyle/>
          <a:p>
            <a:pPr>
              <a:lnSpc>
                <a:spcPct val="108000"/>
              </a:lnSpc>
              <a:spcBef>
                <a:spcPts val="0"/>
              </a:spcBef>
              <a:spcAft>
                <a:spcPts val="500"/>
              </a:spcAft>
            </a:pPr>
            <a:r>
              <a:rPr sz="2000" b="1">
                <a:solidFill>
                  <a:srgbClr val="FFFFFF"/>
                </a:solidFill>
                <a:latin typeface="Arial"/>
              </a:rPr>
              <a:t>Container checks cannot establish NPU speed, power or energy per inference.</a:t>
            </a:r>
          </a:p>
        </p:txBody>
      </p:sp>
      <p:sp>
        <p:nvSpPr>
          <p:cNvPr id="24" name="TextBox 23"/>
          <p:cNvSpPr txBox="1"/>
          <p:nvPr/>
        </p:nvSpPr>
        <p:spPr>
          <a:xfrm>
            <a:off x="594360" y="5934456"/>
            <a:ext cx="10972800" cy="310896"/>
          </a:xfrm>
          <a:prstGeom prst="rect">
            <a:avLst/>
          </a:prstGeom>
          <a:noFill/>
        </p:spPr>
        <p:txBody>
          <a:bodyPr wrap="square" lIns="0" rIns="0" tIns="0" bIns="0" anchor="t">
            <a:spAutoFit/>
          </a:bodyPr>
          <a:lstStyle/>
          <a:p>
            <a:pPr>
              <a:lnSpc>
                <a:spcPct val="108000"/>
              </a:lnSpc>
              <a:spcBef>
                <a:spcPts val="0"/>
              </a:spcBef>
              <a:spcAft>
                <a:spcPts val="500"/>
              </a:spcAft>
            </a:pPr>
            <a:r>
              <a:rPr sz="1500" b="0">
                <a:solidFill>
                  <a:srgbClr val="BCCCDD"/>
                </a:solidFill>
                <a:latin typeface="Arial"/>
              </a:rPr>
              <a:t>Measure on AMD and Intel hardware; state whether power covers the NPU, the board or the whole system.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789920" cy="210312"/>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008778"/>
                </a:solidFill>
                <a:latin typeface="Arial"/>
              </a:rPr>
              <a:t>06 / NEXT MILESTONES — PLANNED</a:t>
            </a:r>
          </a:p>
        </p:txBody>
      </p:sp>
      <p:sp>
        <p:nvSpPr>
          <p:cNvPr id="3" name="TextBox 2"/>
          <p:cNvSpPr txBox="1"/>
          <p:nvPr/>
        </p:nvSpPr>
        <p:spPr>
          <a:xfrm>
            <a:off x="594360" y="704088"/>
            <a:ext cx="10972800" cy="621792"/>
          </a:xfrm>
          <a:prstGeom prst="rect">
            <a:avLst/>
          </a:prstGeom>
          <a:noFill/>
        </p:spPr>
        <p:txBody>
          <a:bodyPr wrap="square" lIns="0" rIns="0" tIns="0" bIns="0" anchor="t">
            <a:spAutoFit/>
          </a:bodyPr>
          <a:lstStyle/>
          <a:p>
            <a:pPr>
              <a:lnSpc>
                <a:spcPct val="108000"/>
              </a:lnSpc>
              <a:spcBef>
                <a:spcPts val="0"/>
              </a:spcBef>
              <a:spcAft>
                <a:spcPts val="500"/>
              </a:spcAft>
            </a:pPr>
            <a:r>
              <a:rPr sz="3100" b="1">
                <a:solidFill>
                  <a:srgbClr val="142B40"/>
                </a:solidFill>
                <a:latin typeface="Arial"/>
              </a:rPr>
              <a:t>Close the loop on real AMD and Intel hardware</a:t>
            </a:r>
          </a:p>
        </p:txBody>
      </p:sp>
      <p:sp>
        <p:nvSpPr>
          <p:cNvPr id="4" name="TextBox 3"/>
          <p:cNvSpPr txBox="1"/>
          <p:nvPr/>
        </p:nvSpPr>
        <p:spPr>
          <a:xfrm>
            <a:off x="594360" y="1344168"/>
            <a:ext cx="10972800" cy="475488"/>
          </a:xfrm>
          <a:prstGeom prst="rect">
            <a:avLst/>
          </a:prstGeom>
          <a:noFill/>
        </p:spPr>
        <p:txBody>
          <a:bodyPr wrap="square" lIns="0" rIns="0" tIns="0" bIns="0" anchor="t">
            <a:spAutoFit/>
          </a:bodyPr>
          <a:lstStyle/>
          <a:p>
            <a:pPr>
              <a:lnSpc>
                <a:spcPct val="108000"/>
              </a:lnSpc>
              <a:spcBef>
                <a:spcPts val="0"/>
              </a:spcBef>
              <a:spcAft>
                <a:spcPts val="500"/>
              </a:spcAft>
            </a:pPr>
            <a:r>
              <a:rPr sz="1700" b="0">
                <a:solidFill>
                  <a:srgbClr val="546579"/>
                </a:solidFill>
                <a:latin typeface="Arial"/>
              </a:rPr>
              <a:t>The next result should connect translation success, device correctness, latency and energy.</a:t>
            </a:r>
          </a:p>
        </p:txBody>
      </p:sp>
      <p:sp>
        <p:nvSpPr>
          <p:cNvPr id="5" name="Rectangle 4"/>
          <p:cNvSpPr/>
          <p:nvPr/>
        </p:nvSpPr>
        <p:spPr>
          <a:xfrm>
            <a:off x="594360" y="6419088"/>
            <a:ext cx="10991088" cy="8229"/>
          </a:xfrm>
          <a:prstGeom prst="rect">
            <a:avLst/>
          </a:prstGeom>
          <a:solidFill>
            <a:srgbClr val="DFE6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94360" y="6519672"/>
            <a:ext cx="10241280" cy="164592"/>
          </a:xfrm>
          <a:prstGeom prst="rect">
            <a:avLst/>
          </a:prstGeom>
          <a:noFill/>
        </p:spPr>
        <p:txBody>
          <a:bodyPr wrap="square" lIns="0" rIns="0" tIns="0" bIns="0" anchor="t">
            <a:spAutoFit/>
          </a:bodyPr>
          <a:lstStyle/>
          <a:p>
            <a:pPr>
              <a:lnSpc>
                <a:spcPct val="108000"/>
              </a:lnSpc>
              <a:spcBef>
                <a:spcPts val="0"/>
              </a:spcBef>
              <a:spcAft>
                <a:spcPts val="500"/>
              </a:spcAft>
            </a:pPr>
            <a:r>
              <a:rPr sz="900" b="0">
                <a:solidFill>
                  <a:srgbClr val="546579"/>
                </a:solidFill>
                <a:latin typeface="Arial"/>
              </a:rPr>
              <a:t>Proposed work based on the gaps in E1–E3. No new hardware or LLM experiments were run to prepare this deck.</a:t>
            </a:r>
          </a:p>
        </p:txBody>
      </p:sp>
      <p:sp>
        <p:nvSpPr>
          <p:cNvPr id="7" name="TextBox 6"/>
          <p:cNvSpPr txBox="1"/>
          <p:nvPr/>
        </p:nvSpPr>
        <p:spPr>
          <a:xfrm>
            <a:off x="11018520" y="6501384"/>
            <a:ext cx="548640" cy="201168"/>
          </a:xfrm>
          <a:prstGeom prst="rect">
            <a:avLst/>
          </a:prstGeom>
          <a:noFill/>
        </p:spPr>
        <p:txBody>
          <a:bodyPr wrap="square" lIns="0" rIns="0" tIns="0" bIns="0" anchor="t">
            <a:spAutoFit/>
          </a:bodyPr>
          <a:lstStyle/>
          <a:p>
            <a:pPr algn="r">
              <a:lnSpc>
                <a:spcPct val="108000"/>
              </a:lnSpc>
              <a:spcBef>
                <a:spcPts val="0"/>
              </a:spcBef>
              <a:spcAft>
                <a:spcPts val="500"/>
              </a:spcAft>
            </a:pPr>
            <a:r>
              <a:rPr sz="1100" b="0">
                <a:solidFill>
                  <a:srgbClr val="546579"/>
                </a:solidFill>
                <a:latin typeface="Arial"/>
              </a:rPr>
              <a:t>07</a:t>
            </a:r>
          </a:p>
        </p:txBody>
      </p:sp>
      <p:sp>
        <p:nvSpPr>
          <p:cNvPr id="8" name="Rounded Rectangle 7"/>
          <p:cNvSpPr/>
          <p:nvPr/>
        </p:nvSpPr>
        <p:spPr>
          <a:xfrm>
            <a:off x="594360" y="1947672"/>
            <a:ext cx="603504" cy="603504"/>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94360" y="2066543"/>
            <a:ext cx="603504" cy="310896"/>
          </a:xfrm>
          <a:prstGeom prst="rect">
            <a:avLst/>
          </a:prstGeom>
          <a:noFill/>
        </p:spPr>
        <p:txBody>
          <a:bodyPr wrap="square" lIns="0" rIns="0" tIns="0" bIns="0" anchor="t">
            <a:spAutoFit/>
          </a:bodyPr>
          <a:lstStyle/>
          <a:p>
            <a:pPr algn="ctr">
              <a:lnSpc>
                <a:spcPct val="108000"/>
              </a:lnSpc>
              <a:spcBef>
                <a:spcPts val="0"/>
              </a:spcBef>
              <a:spcAft>
                <a:spcPts val="500"/>
              </a:spcAft>
            </a:pPr>
            <a:r>
              <a:rPr sz="2000" b="1">
                <a:solidFill>
                  <a:srgbClr val="008778"/>
                </a:solidFill>
                <a:latin typeface="Arial"/>
              </a:rPr>
              <a:t>01</a:t>
            </a:r>
          </a:p>
        </p:txBody>
      </p:sp>
      <p:sp>
        <p:nvSpPr>
          <p:cNvPr id="10" name="TextBox 9"/>
          <p:cNvSpPr txBox="1"/>
          <p:nvPr/>
        </p:nvSpPr>
        <p:spPr>
          <a:xfrm>
            <a:off x="1472184" y="1933955"/>
            <a:ext cx="9784080" cy="384048"/>
          </a:xfrm>
          <a:prstGeom prst="rect">
            <a:avLst/>
          </a:prstGeom>
          <a:noFill/>
        </p:spPr>
        <p:txBody>
          <a:bodyPr wrap="square" lIns="0" rIns="0" tIns="0" bIns="0" anchor="t">
            <a:spAutoFit/>
          </a:bodyPr>
          <a:lstStyle/>
          <a:p>
            <a:pPr>
              <a:lnSpc>
                <a:spcPct val="108000"/>
              </a:lnSpc>
              <a:spcBef>
                <a:spcPts val="0"/>
              </a:spcBef>
              <a:spcAft>
                <a:spcPts val="500"/>
              </a:spcAft>
            </a:pPr>
            <a:r>
              <a:rPr sz="2200" b="1">
                <a:solidFill>
                  <a:srgbClr val="142B40"/>
                </a:solidFill>
                <a:latin typeface="Arial"/>
              </a:rPr>
              <a:t>Rerun the translation comparison</a:t>
            </a:r>
          </a:p>
        </p:txBody>
      </p:sp>
      <p:sp>
        <p:nvSpPr>
          <p:cNvPr id="11" name="TextBox 10"/>
          <p:cNvSpPr txBox="1"/>
          <p:nvPr/>
        </p:nvSpPr>
        <p:spPr>
          <a:xfrm>
            <a:off x="1472184" y="2377439"/>
            <a:ext cx="9784080" cy="274320"/>
          </a:xfrm>
          <a:prstGeom prst="rect">
            <a:avLst/>
          </a:prstGeom>
          <a:noFill/>
        </p:spPr>
        <p:txBody>
          <a:bodyPr wrap="square" lIns="0" rIns="0" tIns="0" bIns="0" anchor="t">
            <a:spAutoFit/>
          </a:bodyPr>
          <a:lstStyle/>
          <a:p>
            <a:pPr>
              <a:lnSpc>
                <a:spcPct val="108000"/>
              </a:lnSpc>
              <a:spcBef>
                <a:spcPts val="0"/>
              </a:spcBef>
              <a:spcAft>
                <a:spcPts val="500"/>
              </a:spcAft>
            </a:pPr>
            <a:r>
              <a:rPr sz="1700" b="0">
                <a:solidFill>
                  <a:srgbClr val="142B40"/>
                </a:solidFill>
                <a:latin typeface="Arial"/>
              </a:rPr>
              <a:t>Use the upgraded correctness policy for both methods.</a:t>
            </a:r>
          </a:p>
        </p:txBody>
      </p:sp>
      <p:sp>
        <p:nvSpPr>
          <p:cNvPr id="12" name="TextBox 11"/>
          <p:cNvSpPr txBox="1"/>
          <p:nvPr/>
        </p:nvSpPr>
        <p:spPr>
          <a:xfrm>
            <a:off x="1472184" y="2706624"/>
            <a:ext cx="9784080" cy="274320"/>
          </a:xfrm>
          <a:prstGeom prst="rect">
            <a:avLst/>
          </a:prstGeom>
          <a:noFill/>
        </p:spPr>
        <p:txBody>
          <a:bodyPr wrap="square" lIns="0" rIns="0" tIns="0" bIns="0" anchor="t">
            <a:spAutoFit/>
          </a:bodyPr>
          <a:lstStyle/>
          <a:p>
            <a:pPr>
              <a:lnSpc>
                <a:spcPct val="108000"/>
              </a:lnSpc>
              <a:spcBef>
                <a:spcPts val="0"/>
              </a:spcBef>
              <a:spcAft>
                <a:spcPts val="500"/>
              </a:spcAft>
            </a:pPr>
            <a:r>
              <a:rPr sz="1500" b="0">
                <a:solidFill>
                  <a:srgbClr val="546579"/>
                </a:solidFill>
                <a:latin typeface="Arial"/>
              </a:rPr>
              <a:t>Pin the model and compare matched tasks and budgets.</a:t>
            </a:r>
          </a:p>
        </p:txBody>
      </p:sp>
      <p:sp>
        <p:nvSpPr>
          <p:cNvPr id="13" name="Rounded Rectangle 12"/>
          <p:cNvSpPr/>
          <p:nvPr/>
        </p:nvSpPr>
        <p:spPr>
          <a:xfrm>
            <a:off x="594360" y="3081528"/>
            <a:ext cx="603504" cy="603504"/>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94360" y="3200400"/>
            <a:ext cx="603504" cy="310896"/>
          </a:xfrm>
          <a:prstGeom prst="rect">
            <a:avLst/>
          </a:prstGeom>
          <a:noFill/>
        </p:spPr>
        <p:txBody>
          <a:bodyPr wrap="square" lIns="0" rIns="0" tIns="0" bIns="0" anchor="t">
            <a:spAutoFit/>
          </a:bodyPr>
          <a:lstStyle/>
          <a:p>
            <a:pPr algn="ctr">
              <a:lnSpc>
                <a:spcPct val="108000"/>
              </a:lnSpc>
              <a:spcBef>
                <a:spcPts val="0"/>
              </a:spcBef>
              <a:spcAft>
                <a:spcPts val="500"/>
              </a:spcAft>
            </a:pPr>
            <a:r>
              <a:rPr sz="2000" b="1">
                <a:solidFill>
                  <a:srgbClr val="008778"/>
                </a:solidFill>
                <a:latin typeface="Arial"/>
              </a:rPr>
              <a:t>02</a:t>
            </a:r>
          </a:p>
        </p:txBody>
      </p:sp>
      <p:sp>
        <p:nvSpPr>
          <p:cNvPr id="15" name="TextBox 14"/>
          <p:cNvSpPr txBox="1"/>
          <p:nvPr/>
        </p:nvSpPr>
        <p:spPr>
          <a:xfrm>
            <a:off x="1472184" y="3067812"/>
            <a:ext cx="9784080" cy="384048"/>
          </a:xfrm>
          <a:prstGeom prst="rect">
            <a:avLst/>
          </a:prstGeom>
          <a:noFill/>
        </p:spPr>
        <p:txBody>
          <a:bodyPr wrap="square" lIns="0" rIns="0" tIns="0" bIns="0" anchor="t">
            <a:spAutoFit/>
          </a:bodyPr>
          <a:lstStyle/>
          <a:p>
            <a:pPr>
              <a:lnSpc>
                <a:spcPct val="108000"/>
              </a:lnSpc>
              <a:spcBef>
                <a:spcPts val="0"/>
              </a:spcBef>
              <a:spcAft>
                <a:spcPts val="500"/>
              </a:spcAft>
            </a:pPr>
            <a:r>
              <a:rPr sz="2200" b="1">
                <a:solidFill>
                  <a:srgbClr val="142B40"/>
                </a:solidFill>
                <a:latin typeface="Arial"/>
              </a:rPr>
              <a:t>Execute the exact target artifacts</a:t>
            </a:r>
          </a:p>
        </p:txBody>
      </p:sp>
      <p:sp>
        <p:nvSpPr>
          <p:cNvPr id="16" name="TextBox 15"/>
          <p:cNvSpPr txBox="1"/>
          <p:nvPr/>
        </p:nvSpPr>
        <p:spPr>
          <a:xfrm>
            <a:off x="1472184" y="3511296"/>
            <a:ext cx="9784080" cy="274320"/>
          </a:xfrm>
          <a:prstGeom prst="rect">
            <a:avLst/>
          </a:prstGeom>
          <a:noFill/>
        </p:spPr>
        <p:txBody>
          <a:bodyPr wrap="square" lIns="0" rIns="0" tIns="0" bIns="0" anchor="t">
            <a:spAutoFit/>
          </a:bodyPr>
          <a:lstStyle/>
          <a:p>
            <a:pPr>
              <a:lnSpc>
                <a:spcPct val="108000"/>
              </a:lnSpc>
              <a:spcBef>
                <a:spcPts val="0"/>
              </a:spcBef>
              <a:spcAft>
                <a:spcPts val="500"/>
              </a:spcAft>
            </a:pPr>
            <a:r>
              <a:rPr sz="1700" b="0">
                <a:solidFill>
                  <a:srgbClr val="142B40"/>
                </a:solidFill>
                <a:latin typeface="Arial"/>
              </a:rPr>
              <a:t>Connect each NPU, its drivers and a validated device runner.</a:t>
            </a:r>
          </a:p>
        </p:txBody>
      </p:sp>
      <p:sp>
        <p:nvSpPr>
          <p:cNvPr id="17" name="TextBox 16"/>
          <p:cNvSpPr txBox="1"/>
          <p:nvPr/>
        </p:nvSpPr>
        <p:spPr>
          <a:xfrm>
            <a:off x="1472184" y="3840480"/>
            <a:ext cx="9784080" cy="274320"/>
          </a:xfrm>
          <a:prstGeom prst="rect">
            <a:avLst/>
          </a:prstGeom>
          <a:noFill/>
        </p:spPr>
        <p:txBody>
          <a:bodyPr wrap="square" lIns="0" rIns="0" tIns="0" bIns="0" anchor="t">
            <a:spAutoFit/>
          </a:bodyPr>
          <a:lstStyle/>
          <a:p>
            <a:pPr>
              <a:lnSpc>
                <a:spcPct val="108000"/>
              </a:lnSpc>
              <a:spcBef>
                <a:spcPts val="0"/>
              </a:spcBef>
              <a:spcAft>
                <a:spcPts val="500"/>
              </a:spcAft>
            </a:pPr>
            <a:r>
              <a:rPr sz="1500" b="0">
                <a:solidFill>
                  <a:srgbClr val="546579"/>
                </a:solidFill>
                <a:latin typeface="Arial"/>
              </a:rPr>
              <a:t>Compare device outputs with the same independent references.</a:t>
            </a:r>
          </a:p>
        </p:txBody>
      </p:sp>
      <p:sp>
        <p:nvSpPr>
          <p:cNvPr id="18" name="Rounded Rectangle 17"/>
          <p:cNvSpPr/>
          <p:nvPr/>
        </p:nvSpPr>
        <p:spPr>
          <a:xfrm>
            <a:off x="594360" y="4215383"/>
            <a:ext cx="603504" cy="603504"/>
          </a:xfrm>
          <a:prstGeom prst="roundRect">
            <a:avLst>
              <a:gd name="adj" fmla="val 6000"/>
            </a:avLst>
          </a:prstGeom>
          <a:solidFill>
            <a:srgbClr val="E5F3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94360" y="4334255"/>
            <a:ext cx="603504" cy="310896"/>
          </a:xfrm>
          <a:prstGeom prst="rect">
            <a:avLst/>
          </a:prstGeom>
          <a:noFill/>
        </p:spPr>
        <p:txBody>
          <a:bodyPr wrap="square" lIns="0" rIns="0" tIns="0" bIns="0" anchor="t">
            <a:spAutoFit/>
          </a:bodyPr>
          <a:lstStyle/>
          <a:p>
            <a:pPr algn="ctr">
              <a:lnSpc>
                <a:spcPct val="108000"/>
              </a:lnSpc>
              <a:spcBef>
                <a:spcPts val="0"/>
              </a:spcBef>
              <a:spcAft>
                <a:spcPts val="500"/>
              </a:spcAft>
            </a:pPr>
            <a:r>
              <a:rPr sz="2000" b="1">
                <a:solidFill>
                  <a:srgbClr val="008778"/>
                </a:solidFill>
                <a:latin typeface="Arial"/>
              </a:rPr>
              <a:t>03</a:t>
            </a:r>
          </a:p>
        </p:txBody>
      </p:sp>
      <p:sp>
        <p:nvSpPr>
          <p:cNvPr id="20" name="TextBox 19"/>
          <p:cNvSpPr txBox="1"/>
          <p:nvPr/>
        </p:nvSpPr>
        <p:spPr>
          <a:xfrm>
            <a:off x="1472184" y="4201668"/>
            <a:ext cx="9784080" cy="384048"/>
          </a:xfrm>
          <a:prstGeom prst="rect">
            <a:avLst/>
          </a:prstGeom>
          <a:noFill/>
        </p:spPr>
        <p:txBody>
          <a:bodyPr wrap="square" lIns="0" rIns="0" tIns="0" bIns="0" anchor="t">
            <a:spAutoFit/>
          </a:bodyPr>
          <a:lstStyle/>
          <a:p>
            <a:pPr>
              <a:lnSpc>
                <a:spcPct val="108000"/>
              </a:lnSpc>
              <a:spcBef>
                <a:spcPts val="0"/>
              </a:spcBef>
              <a:spcAft>
                <a:spcPts val="500"/>
              </a:spcAft>
            </a:pPr>
            <a:r>
              <a:rPr sz="2200" b="1">
                <a:solidFill>
                  <a:srgbClr val="142B40"/>
                </a:solidFill>
                <a:latin typeface="Arial"/>
              </a:rPr>
              <a:t>Measure and optimize for the edge</a:t>
            </a:r>
          </a:p>
        </p:txBody>
      </p:sp>
      <p:sp>
        <p:nvSpPr>
          <p:cNvPr id="21" name="TextBox 20"/>
          <p:cNvSpPr txBox="1"/>
          <p:nvPr/>
        </p:nvSpPr>
        <p:spPr>
          <a:xfrm>
            <a:off x="1472184" y="4645151"/>
            <a:ext cx="9784080" cy="274320"/>
          </a:xfrm>
          <a:prstGeom prst="rect">
            <a:avLst/>
          </a:prstGeom>
          <a:noFill/>
        </p:spPr>
        <p:txBody>
          <a:bodyPr wrap="square" lIns="0" rIns="0" tIns="0" bIns="0" anchor="t">
            <a:spAutoFit/>
          </a:bodyPr>
          <a:lstStyle/>
          <a:p>
            <a:pPr>
              <a:lnSpc>
                <a:spcPct val="108000"/>
              </a:lnSpc>
              <a:spcBef>
                <a:spcPts val="0"/>
              </a:spcBef>
              <a:spcAft>
                <a:spcPts val="500"/>
              </a:spcAft>
            </a:pPr>
            <a:r>
              <a:rPr sz="1700" b="0">
                <a:solidFill>
                  <a:srgbClr val="142B40"/>
                </a:solidFill>
                <a:latin typeface="Arial"/>
              </a:rPr>
              <a:t>Collect latency, throughput, watts and energy per inference.</a:t>
            </a:r>
          </a:p>
        </p:txBody>
      </p:sp>
      <p:sp>
        <p:nvSpPr>
          <p:cNvPr id="22" name="TextBox 21"/>
          <p:cNvSpPr txBox="1"/>
          <p:nvPr/>
        </p:nvSpPr>
        <p:spPr>
          <a:xfrm>
            <a:off x="1472184" y="4974336"/>
            <a:ext cx="9784080" cy="274320"/>
          </a:xfrm>
          <a:prstGeom prst="rect">
            <a:avLst/>
          </a:prstGeom>
          <a:noFill/>
        </p:spPr>
        <p:txBody>
          <a:bodyPr wrap="square" lIns="0" rIns="0" tIns="0" bIns="0" anchor="t">
            <a:spAutoFit/>
          </a:bodyPr>
          <a:lstStyle/>
          <a:p>
            <a:pPr>
              <a:lnSpc>
                <a:spcPct val="108000"/>
              </a:lnSpc>
              <a:spcBef>
                <a:spcPts val="0"/>
              </a:spcBef>
              <a:spcAft>
                <a:spcPts val="500"/>
              </a:spcAft>
            </a:pPr>
            <a:r>
              <a:rPr sz="1500" b="0">
                <a:solidFill>
                  <a:srgbClr val="546579"/>
                </a:solidFill>
                <a:latin typeface="Arial"/>
              </a:rPr>
              <a:t>Compare only candidates that pass device correctness checks.</a:t>
            </a:r>
          </a:p>
        </p:txBody>
      </p:sp>
      <p:sp>
        <p:nvSpPr>
          <p:cNvPr id="23" name="Rounded Rectangle 22"/>
          <p:cNvSpPr/>
          <p:nvPr/>
        </p:nvSpPr>
        <p:spPr>
          <a:xfrm>
            <a:off x="594360" y="5678424"/>
            <a:ext cx="10991088" cy="530352"/>
          </a:xfrm>
          <a:prstGeom prst="roundRect">
            <a:avLst>
              <a:gd name="adj" fmla="val 6000"/>
            </a:avLst>
          </a:prstGeom>
          <a:solidFill>
            <a:srgbClr val="EAF0F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95528" y="5815584"/>
            <a:ext cx="10588752" cy="292608"/>
          </a:xfrm>
          <a:prstGeom prst="rect">
            <a:avLst/>
          </a:prstGeom>
          <a:noFill/>
        </p:spPr>
        <p:txBody>
          <a:bodyPr wrap="square" lIns="0" rIns="0" tIns="0" bIns="0" anchor="t">
            <a:spAutoFit/>
          </a:bodyPr>
          <a:lstStyle/>
          <a:p>
            <a:pPr>
              <a:lnSpc>
                <a:spcPct val="108000"/>
              </a:lnSpc>
              <a:spcBef>
                <a:spcPts val="0"/>
              </a:spcBef>
              <a:spcAft>
                <a:spcPts val="500"/>
              </a:spcAft>
            </a:pPr>
            <a:r>
              <a:rPr sz="1800" b="1">
                <a:solidFill>
                  <a:srgbClr val="356BDC"/>
                </a:solidFill>
                <a:latin typeface="Arial"/>
              </a:rPr>
              <a:t>Deliverable: a correctness-filtered latency and energy comparison for both NPU targets.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789920" cy="210312"/>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008778"/>
                </a:solidFill>
                <a:latin typeface="Arial"/>
              </a:rPr>
              <a:t>APPENDIX / EVIDENCE AND INTERPRETATION</a:t>
            </a:r>
          </a:p>
        </p:txBody>
      </p:sp>
      <p:sp>
        <p:nvSpPr>
          <p:cNvPr id="3" name="TextBox 2"/>
          <p:cNvSpPr txBox="1"/>
          <p:nvPr/>
        </p:nvSpPr>
        <p:spPr>
          <a:xfrm>
            <a:off x="594360" y="704088"/>
            <a:ext cx="10972800" cy="621792"/>
          </a:xfrm>
          <a:prstGeom prst="rect">
            <a:avLst/>
          </a:prstGeom>
          <a:noFill/>
        </p:spPr>
        <p:txBody>
          <a:bodyPr wrap="square" lIns="0" rIns="0" tIns="0" bIns="0" anchor="t">
            <a:spAutoFit/>
          </a:bodyPr>
          <a:lstStyle/>
          <a:p>
            <a:pPr>
              <a:lnSpc>
                <a:spcPct val="108000"/>
              </a:lnSpc>
              <a:spcBef>
                <a:spcPts val="0"/>
              </a:spcBef>
              <a:spcAft>
                <a:spcPts val="500"/>
              </a:spcAft>
            </a:pPr>
            <a:r>
              <a:rPr sz="3100" b="1">
                <a:solidFill>
                  <a:srgbClr val="142B40"/>
                </a:solidFill>
                <a:latin typeface="Arial"/>
              </a:rPr>
              <a:t>What the numbers prove — and what remains open</a:t>
            </a:r>
          </a:p>
        </p:txBody>
      </p:sp>
      <p:sp>
        <p:nvSpPr>
          <p:cNvPr id="4" name="TextBox 3"/>
          <p:cNvSpPr txBox="1"/>
          <p:nvPr/>
        </p:nvSpPr>
        <p:spPr>
          <a:xfrm>
            <a:off x="594360" y="1344168"/>
            <a:ext cx="10972800" cy="475488"/>
          </a:xfrm>
          <a:prstGeom prst="rect">
            <a:avLst/>
          </a:prstGeom>
          <a:noFill/>
        </p:spPr>
        <p:txBody>
          <a:bodyPr wrap="square" lIns="0" rIns="0" tIns="0" bIns="0" anchor="t">
            <a:spAutoFit/>
          </a:bodyPr>
          <a:lstStyle/>
          <a:p>
            <a:pPr>
              <a:lnSpc>
                <a:spcPct val="108000"/>
              </a:lnSpc>
              <a:spcBef>
                <a:spcPts val="0"/>
              </a:spcBef>
              <a:spcAft>
                <a:spcPts val="500"/>
              </a:spcAft>
            </a:pPr>
            <a:r>
              <a:rPr sz="1700" b="0">
                <a:solidFill>
                  <a:srgbClr val="546579"/>
                </a:solidFill>
                <a:latin typeface="Arial"/>
              </a:rPr>
              <a:t>All charts and counts are backed by the saved project reports; source hashes are in evidence.json.</a:t>
            </a:r>
          </a:p>
        </p:txBody>
      </p:sp>
      <p:sp>
        <p:nvSpPr>
          <p:cNvPr id="5" name="Rectangle 4"/>
          <p:cNvSpPr/>
          <p:nvPr/>
        </p:nvSpPr>
        <p:spPr>
          <a:xfrm>
            <a:off x="594360" y="6419088"/>
            <a:ext cx="10991088" cy="8229"/>
          </a:xfrm>
          <a:prstGeom prst="rect">
            <a:avLst/>
          </a:prstGeom>
          <a:solidFill>
            <a:srgbClr val="DFE6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94360" y="6519672"/>
            <a:ext cx="10241280" cy="164592"/>
          </a:xfrm>
          <a:prstGeom prst="rect">
            <a:avLst/>
          </a:prstGeom>
          <a:noFill/>
        </p:spPr>
        <p:txBody>
          <a:bodyPr wrap="square" lIns="0" rIns="0" tIns="0" bIns="0" anchor="t">
            <a:spAutoFit/>
          </a:bodyPr>
          <a:lstStyle/>
          <a:p>
            <a:pPr>
              <a:lnSpc>
                <a:spcPct val="108000"/>
              </a:lnSpc>
              <a:spcBef>
                <a:spcPts val="0"/>
              </a:spcBef>
              <a:spcAft>
                <a:spcPts val="500"/>
              </a:spcAft>
            </a:pPr>
            <a:r>
              <a:rPr sz="900" b="0">
                <a:solidFill>
                  <a:srgbClr val="546579"/>
                </a:solidFill>
                <a:latin typeface="Arial"/>
              </a:rPr>
              <a:t>Project: npu-playground • Snapshot prepared 09 Sep 2026 • Speaker notes contain source paths, links and metric definitions.</a:t>
            </a:r>
          </a:p>
        </p:txBody>
      </p:sp>
      <p:sp>
        <p:nvSpPr>
          <p:cNvPr id="7" name="TextBox 6"/>
          <p:cNvSpPr txBox="1"/>
          <p:nvPr/>
        </p:nvSpPr>
        <p:spPr>
          <a:xfrm>
            <a:off x="11018520" y="6501384"/>
            <a:ext cx="548640" cy="201168"/>
          </a:xfrm>
          <a:prstGeom prst="rect">
            <a:avLst/>
          </a:prstGeom>
          <a:noFill/>
        </p:spPr>
        <p:txBody>
          <a:bodyPr wrap="square" lIns="0" rIns="0" tIns="0" bIns="0" anchor="t">
            <a:spAutoFit/>
          </a:bodyPr>
          <a:lstStyle/>
          <a:p>
            <a:pPr algn="r">
              <a:lnSpc>
                <a:spcPct val="108000"/>
              </a:lnSpc>
              <a:spcBef>
                <a:spcPts val="0"/>
              </a:spcBef>
              <a:spcAft>
                <a:spcPts val="500"/>
              </a:spcAft>
            </a:pPr>
            <a:r>
              <a:rPr sz="1100" b="0">
                <a:solidFill>
                  <a:srgbClr val="546579"/>
                </a:solidFill>
                <a:latin typeface="Arial"/>
              </a:rPr>
              <a:t>08</a:t>
            </a:r>
          </a:p>
        </p:txBody>
      </p:sp>
      <p:sp>
        <p:nvSpPr>
          <p:cNvPr id="8" name="Rounded Rectangle 7"/>
          <p:cNvSpPr/>
          <p:nvPr/>
        </p:nvSpPr>
        <p:spPr>
          <a:xfrm>
            <a:off x="594360" y="1947672"/>
            <a:ext cx="5358384" cy="3163824"/>
          </a:xfrm>
          <a:prstGeom prst="roundRect">
            <a:avLst>
              <a:gd name="adj" fmla="val 6000"/>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04672" y="2157984"/>
            <a:ext cx="4937760" cy="320040"/>
          </a:xfrm>
          <a:prstGeom prst="rect">
            <a:avLst/>
          </a:prstGeom>
          <a:noFill/>
        </p:spPr>
        <p:txBody>
          <a:bodyPr wrap="square" lIns="0" rIns="0" tIns="0" bIns="0" anchor="t">
            <a:spAutoFit/>
          </a:bodyPr>
          <a:lstStyle/>
          <a:p>
            <a:pPr>
              <a:lnSpc>
                <a:spcPct val="108000"/>
              </a:lnSpc>
              <a:spcBef>
                <a:spcPts val="0"/>
              </a:spcBef>
              <a:spcAft>
                <a:spcPts val="500"/>
              </a:spcAft>
            </a:pPr>
            <a:r>
              <a:rPr sz="1900" b="1">
                <a:solidFill>
                  <a:srgbClr val="356BDC"/>
                </a:solidFill>
                <a:latin typeface="Arial"/>
              </a:rPr>
              <a:t>E1 / Historical translation experiment</a:t>
            </a:r>
          </a:p>
        </p:txBody>
      </p:sp>
      <p:sp>
        <p:nvSpPr>
          <p:cNvPr id="10" name="TextBox 9"/>
          <p:cNvSpPr txBox="1"/>
          <p:nvPr/>
        </p:nvSpPr>
        <p:spPr>
          <a:xfrm>
            <a:off x="804672" y="2697480"/>
            <a:ext cx="4818888" cy="1920240"/>
          </a:xfrm>
          <a:prstGeom prst="rect">
            <a:avLst/>
          </a:prstGeom>
          <a:noFill/>
        </p:spPr>
        <p:txBody>
          <a:bodyPr wrap="square" lIns="0" rIns="0" tIns="0" bIns="0" anchor="t">
            <a:spAutoFit/>
          </a:bodyPr>
          <a:lstStyle/>
          <a:p>
            <a:pPr>
              <a:lnSpc>
                <a:spcPct val="108000"/>
              </a:lnSpc>
              <a:spcBef>
                <a:spcPts val="0"/>
              </a:spcBef>
              <a:spcAft>
                <a:spcPts val="500"/>
              </a:spcAft>
            </a:pPr>
            <a:r>
              <a:rPr sz="1600" b="0">
                <a:solidFill>
                  <a:srgbClr val="142B40"/>
                </a:solidFill>
                <a:latin typeface="Arial"/>
              </a:rPr>
              <a:t>40 recorded cases: 20 per method</a:t>
            </a:r>
          </a:p>
          <a:p>
            <a:pPr>
              <a:lnSpc>
                <a:spcPct val="108000"/>
              </a:lnSpc>
              <a:spcBef>
                <a:spcPts val="0"/>
              </a:spcBef>
              <a:spcAft>
                <a:spcPts val="500"/>
              </a:spcAft>
            </a:pPr>
            <a:r>
              <a:rPr sz="1600" b="0">
                <a:solidFill>
                  <a:srgbClr val="142B40"/>
                </a:solidFill>
                <a:latin typeface="Arial"/>
              </a:rPr>
              <a:t>10 kernels × AMD and Intel</a:t>
            </a:r>
          </a:p>
          <a:p>
            <a:pPr>
              <a:lnSpc>
                <a:spcPct val="108000"/>
              </a:lnSpc>
              <a:spcBef>
                <a:spcPts val="0"/>
              </a:spcBef>
              <a:spcAft>
                <a:spcPts val="500"/>
              </a:spcAft>
            </a:pPr>
            <a:r>
              <a:rPr sz="1600" b="0">
                <a:solidFill>
                  <a:srgbClr val="142B40"/>
                </a:solidFill>
                <a:latin typeface="Arial"/>
              </a:rPr>
              <a:t>Revision: 74f8ae752b23</a:t>
            </a:r>
          </a:p>
          <a:p>
            <a:pPr>
              <a:lnSpc>
                <a:spcPct val="108000"/>
              </a:lnSpc>
              <a:spcBef>
                <a:spcPts val="0"/>
              </a:spcBef>
              <a:spcAft>
                <a:spcPts val="500"/>
              </a:spcAft>
            </a:pPr>
            <a:r>
              <a:rPr sz="1600" b="0">
                <a:solidFill>
                  <a:srgbClr val="142B40"/>
                </a:solidFill>
                <a:latin typeface="Arial"/>
              </a:rPr>
              <a:t>Codex CLI 0.144.5; model: CLI default</a:t>
            </a:r>
          </a:p>
          <a:p>
            <a:pPr>
              <a:lnSpc>
                <a:spcPct val="108000"/>
              </a:lnSpc>
              <a:spcBef>
                <a:spcPts val="0"/>
              </a:spcBef>
              <a:spcAft>
                <a:spcPts val="500"/>
              </a:spcAft>
            </a:pPr>
            <a:r>
              <a:rPr sz="1600" b="0">
                <a:solidFill>
                  <a:srgbClr val="142B40"/>
                </a:solidFill>
                <a:latin typeface="Arial"/>
              </a:rPr>
              <a:t>AMD compile-only; Intel CPU + compile</a:t>
            </a:r>
          </a:p>
          <a:p>
            <a:pPr>
              <a:lnSpc>
                <a:spcPct val="108000"/>
              </a:lnSpc>
              <a:spcBef>
                <a:spcPts val="0"/>
              </a:spcBef>
              <a:spcAft>
                <a:spcPts val="500"/>
              </a:spcAft>
            </a:pPr>
            <a:r>
              <a:rPr sz="1600" b="0">
                <a:solidFill>
                  <a:srgbClr val="142B40"/>
                </a:solidFill>
                <a:latin typeface="Arial"/>
              </a:rPr>
              <a:t>Unequal search budgets</a:t>
            </a:r>
          </a:p>
        </p:txBody>
      </p:sp>
      <p:sp>
        <p:nvSpPr>
          <p:cNvPr id="11" name="TextBox 10"/>
          <p:cNvSpPr txBox="1"/>
          <p:nvPr/>
        </p:nvSpPr>
        <p:spPr>
          <a:xfrm>
            <a:off x="804672" y="4754880"/>
            <a:ext cx="4791456" cy="274320"/>
          </a:xfrm>
          <a:prstGeom prst="rect">
            <a:avLst/>
          </a:prstGeom>
          <a:noFill/>
        </p:spPr>
        <p:txBody>
          <a:bodyPr wrap="square" lIns="0" rIns="0" tIns="0" bIns="0" anchor="t">
            <a:spAutoFit/>
          </a:bodyPr>
          <a:lstStyle/>
          <a:p>
            <a:pPr>
              <a:lnSpc>
                <a:spcPct val="108000"/>
              </a:lnSpc>
              <a:spcBef>
                <a:spcPts val="0"/>
              </a:spcBef>
              <a:spcAft>
                <a:spcPts val="500"/>
              </a:spcAft>
            </a:pPr>
            <a:r>
              <a:rPr sz="1300" b="0">
                <a:solidFill>
                  <a:srgbClr val="546579"/>
                </a:solidFill>
                <a:latin typeface="Arial"/>
              </a:rPr>
              <a:t>Supports workflow completion, not device correctness.</a:t>
            </a:r>
          </a:p>
        </p:txBody>
      </p:sp>
      <p:sp>
        <p:nvSpPr>
          <p:cNvPr id="12" name="Rounded Rectangle 11"/>
          <p:cNvSpPr/>
          <p:nvPr/>
        </p:nvSpPr>
        <p:spPr>
          <a:xfrm>
            <a:off x="6227064" y="1947672"/>
            <a:ext cx="5358384" cy="3163824"/>
          </a:xfrm>
          <a:prstGeom prst="roundRect">
            <a:avLst>
              <a:gd name="adj" fmla="val 6000"/>
            </a:avLst>
          </a:prstGeom>
          <a:solidFill>
            <a:srgbClr val="F5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437376" y="2157984"/>
            <a:ext cx="4937760" cy="320040"/>
          </a:xfrm>
          <a:prstGeom prst="rect">
            <a:avLst/>
          </a:prstGeom>
          <a:noFill/>
        </p:spPr>
        <p:txBody>
          <a:bodyPr wrap="square" lIns="0" rIns="0" tIns="0" bIns="0" anchor="t">
            <a:spAutoFit/>
          </a:bodyPr>
          <a:lstStyle/>
          <a:p>
            <a:pPr>
              <a:lnSpc>
                <a:spcPct val="108000"/>
              </a:lnSpc>
              <a:spcBef>
                <a:spcPts val="0"/>
              </a:spcBef>
              <a:spcAft>
                <a:spcPts val="500"/>
              </a:spcAft>
            </a:pPr>
            <a:r>
              <a:rPr sz="1900" b="1">
                <a:solidFill>
                  <a:srgbClr val="008778"/>
                </a:solidFill>
                <a:latin typeface="Arial"/>
              </a:rPr>
              <a:t>E2 / Current evaluator validation</a:t>
            </a:r>
          </a:p>
        </p:txBody>
      </p:sp>
      <p:sp>
        <p:nvSpPr>
          <p:cNvPr id="14" name="TextBox 13"/>
          <p:cNvSpPr txBox="1"/>
          <p:nvPr/>
        </p:nvSpPr>
        <p:spPr>
          <a:xfrm>
            <a:off x="6437376" y="2697480"/>
            <a:ext cx="4818888" cy="1920240"/>
          </a:xfrm>
          <a:prstGeom prst="rect">
            <a:avLst/>
          </a:prstGeom>
          <a:noFill/>
        </p:spPr>
        <p:txBody>
          <a:bodyPr wrap="square" lIns="0" rIns="0" tIns="0" bIns="0" anchor="t">
            <a:spAutoFit/>
          </a:bodyPr>
          <a:lstStyle/>
          <a:p>
            <a:pPr>
              <a:lnSpc>
                <a:spcPct val="108000"/>
              </a:lnSpc>
              <a:spcBef>
                <a:spcPts val="0"/>
              </a:spcBef>
              <a:spcAft>
                <a:spcPts val="500"/>
              </a:spcAft>
            </a:pPr>
            <a:r>
              <a:rPr sz="1600" b="0">
                <a:solidFill>
                  <a:srgbClr val="142B40"/>
                </a:solidFill>
                <a:latin typeface="Arial"/>
              </a:rPr>
              <a:t>22 deterministic candidate-target cases</a:t>
            </a:r>
          </a:p>
          <a:p>
            <a:pPr>
              <a:lnSpc>
                <a:spcPct val="108000"/>
              </a:lnSpc>
              <a:spcBef>
                <a:spcPts val="0"/>
              </a:spcBef>
              <a:spcAft>
                <a:spcPts val="500"/>
              </a:spcAft>
            </a:pPr>
            <a:r>
              <a:rPr sz="1600" b="0">
                <a:solidFill>
                  <a:srgbClr val="142B40"/>
                </a:solidFill>
                <a:latin typeface="Arial"/>
              </a:rPr>
              <a:t>12 inputs per candidate; 3 AMD schedules</a:t>
            </a:r>
          </a:p>
          <a:p>
            <a:pPr>
              <a:lnSpc>
                <a:spcPct val="108000"/>
              </a:lnSpc>
              <a:spcBef>
                <a:spcPts val="0"/>
              </a:spcBef>
              <a:spcAft>
                <a:spcPts val="500"/>
              </a:spcAft>
            </a:pPr>
            <a:r>
              <a:rPr sz="1600" b="0">
                <a:solidFill>
                  <a:srgbClr val="142B40"/>
                </a:solidFill>
                <a:latin typeface="Arial"/>
              </a:rPr>
              <a:t>Base: d3efa60a08e5 + working-tree upgrade</a:t>
            </a:r>
          </a:p>
          <a:p>
            <a:pPr>
              <a:lnSpc>
                <a:spcPct val="108000"/>
              </a:lnSpc>
              <a:spcBef>
                <a:spcPts val="0"/>
              </a:spcBef>
              <a:spcAft>
                <a:spcPts val="500"/>
              </a:spcAft>
            </a:pPr>
            <a:r>
              <a:rPr sz="1600" b="0">
                <a:solidFill>
                  <a:srgbClr val="142B40"/>
                </a:solidFill>
                <a:latin typeface="Arial"/>
              </a:rPr>
              <a:t>0 provider calls; 0 target binary executions</a:t>
            </a:r>
          </a:p>
          <a:p>
            <a:pPr>
              <a:lnSpc>
                <a:spcPct val="108000"/>
              </a:lnSpc>
              <a:spcBef>
                <a:spcPts val="0"/>
              </a:spcBef>
              <a:spcAft>
                <a:spcPts val="500"/>
              </a:spcAft>
            </a:pPr>
            <a:r>
              <a:rPr sz="1600" b="0">
                <a:solidFill>
                  <a:srgbClr val="142B40"/>
                </a:solidFill>
                <a:latin typeface="Arial"/>
              </a:rPr>
              <a:t>Independent references and negative checks</a:t>
            </a:r>
          </a:p>
          <a:p>
            <a:pPr>
              <a:lnSpc>
                <a:spcPct val="108000"/>
              </a:lnSpc>
              <a:spcBef>
                <a:spcPts val="0"/>
              </a:spcBef>
              <a:spcAft>
                <a:spcPts val="500"/>
              </a:spcAft>
            </a:pPr>
            <a:r>
              <a:rPr sz="1600" b="0">
                <a:solidFill>
                  <a:srgbClr val="142B40"/>
                </a:solidFill>
                <a:latin typeface="Arial"/>
              </a:rPr>
              <a:t>Not a rerun of the historical LLM experiment</a:t>
            </a:r>
          </a:p>
        </p:txBody>
      </p:sp>
      <p:sp>
        <p:nvSpPr>
          <p:cNvPr id="15" name="TextBox 14"/>
          <p:cNvSpPr txBox="1"/>
          <p:nvPr/>
        </p:nvSpPr>
        <p:spPr>
          <a:xfrm>
            <a:off x="6437376" y="4754880"/>
            <a:ext cx="4791456" cy="274320"/>
          </a:xfrm>
          <a:prstGeom prst="rect">
            <a:avLst/>
          </a:prstGeom>
          <a:noFill/>
        </p:spPr>
        <p:txBody>
          <a:bodyPr wrap="square" lIns="0" rIns="0" tIns="0" bIns="0" anchor="t">
            <a:spAutoFit/>
          </a:bodyPr>
          <a:lstStyle/>
          <a:p>
            <a:pPr>
              <a:lnSpc>
                <a:spcPct val="108000"/>
              </a:lnSpc>
              <a:spcBef>
                <a:spcPts val="0"/>
              </a:spcBef>
              <a:spcAft>
                <a:spcPts val="500"/>
              </a:spcAft>
            </a:pPr>
            <a:r>
              <a:rPr sz="1300" b="0">
                <a:solidFill>
                  <a:srgbClr val="546579"/>
                </a:solidFill>
                <a:latin typeface="Arial"/>
              </a:rPr>
              <a:t>Supports scoped offline checks, not exhaustive proof.</a:t>
            </a:r>
          </a:p>
        </p:txBody>
      </p:sp>
      <p:sp>
        <p:nvSpPr>
          <p:cNvPr id="16" name="TextBox 15"/>
          <p:cNvSpPr txBox="1"/>
          <p:nvPr/>
        </p:nvSpPr>
        <p:spPr>
          <a:xfrm>
            <a:off x="594360" y="5404104"/>
            <a:ext cx="10972800" cy="274320"/>
          </a:xfrm>
          <a:prstGeom prst="rect">
            <a:avLst/>
          </a:prstGeom>
          <a:noFill/>
        </p:spPr>
        <p:txBody>
          <a:bodyPr wrap="square" lIns="0" rIns="0" tIns="0" bIns="0" anchor="t">
            <a:spAutoFit/>
          </a:bodyPr>
          <a:lstStyle/>
          <a:p>
            <a:pPr>
              <a:lnSpc>
                <a:spcPct val="108000"/>
              </a:lnSpc>
              <a:spcBef>
                <a:spcPts val="0"/>
              </a:spcBef>
              <a:spcAft>
                <a:spcPts val="500"/>
              </a:spcAft>
            </a:pPr>
            <a:r>
              <a:rPr sz="1100" b="1">
                <a:solidFill>
                  <a:srgbClr val="546579"/>
                </a:solidFill>
                <a:latin typeface="Arial"/>
              </a:rPr>
              <a:t>PUBLIC CONTEXT — CLICKABLE SOURCES</a:t>
            </a:r>
          </a:p>
        </p:txBody>
      </p:sp>
      <p:sp>
        <p:nvSpPr>
          <p:cNvPr id="17" name="TextBox 16"/>
          <p:cNvSpPr txBox="1"/>
          <p:nvPr/>
        </p:nvSpPr>
        <p:spPr>
          <a:xfrm>
            <a:off x="594360" y="5751576"/>
            <a:ext cx="5303520" cy="246888"/>
          </a:xfrm>
          <a:prstGeom prst="rect">
            <a:avLst/>
          </a:prstGeom>
          <a:noFill/>
        </p:spPr>
        <p:txBody>
          <a:bodyPr wrap="square" lIns="0" rIns="0" tIns="0" bIns="0" anchor="t">
            <a:spAutoFit/>
          </a:bodyPr>
          <a:lstStyle/>
          <a:p>
            <a:pPr>
              <a:lnSpc>
                <a:spcPct val="108000"/>
              </a:lnSpc>
              <a:spcBef>
                <a:spcPts val="0"/>
              </a:spcBef>
              <a:spcAft>
                <a:spcPts val="500"/>
              </a:spcAft>
            </a:pPr>
            <a:r>
              <a:rPr sz="1300" b="0">
                <a:solidFill>
                  <a:srgbClr val="356BDC"/>
                </a:solidFill>
                <a:latin typeface="Arial"/>
                <a:hlinkClick r:id="rId2"/>
              </a:rPr>
              <a:t>P1  AMD dataflow pre-simulation</a:t>
            </a:r>
          </a:p>
        </p:txBody>
      </p:sp>
      <p:sp>
        <p:nvSpPr>
          <p:cNvPr id="18" name="TextBox 17"/>
          <p:cNvSpPr txBox="1"/>
          <p:nvPr/>
        </p:nvSpPr>
        <p:spPr>
          <a:xfrm>
            <a:off x="6227064" y="5751576"/>
            <a:ext cx="5303520" cy="246888"/>
          </a:xfrm>
          <a:prstGeom prst="rect">
            <a:avLst/>
          </a:prstGeom>
          <a:noFill/>
        </p:spPr>
        <p:txBody>
          <a:bodyPr wrap="square" lIns="0" rIns="0" tIns="0" bIns="0" anchor="t">
            <a:spAutoFit/>
          </a:bodyPr>
          <a:lstStyle/>
          <a:p>
            <a:pPr>
              <a:lnSpc>
                <a:spcPct val="108000"/>
              </a:lnSpc>
              <a:spcBef>
                <a:spcPts val="0"/>
              </a:spcBef>
              <a:spcAft>
                <a:spcPts val="500"/>
              </a:spcAft>
            </a:pPr>
            <a:r>
              <a:rPr sz="1300" b="0">
                <a:solidFill>
                  <a:srgbClr val="356BDC"/>
                </a:solidFill>
                <a:latin typeface="Arial"/>
                <a:hlinkClick r:id="rId3"/>
              </a:rPr>
              <a:t>P2  Intel OpenVINO NPU device</a:t>
            </a:r>
          </a:p>
        </p:txBody>
      </p:sp>
      <p:sp>
        <p:nvSpPr>
          <p:cNvPr id="19" name="TextBox 18"/>
          <p:cNvSpPr txBox="1"/>
          <p:nvPr/>
        </p:nvSpPr>
        <p:spPr>
          <a:xfrm>
            <a:off x="594360" y="6080760"/>
            <a:ext cx="5303520" cy="246888"/>
          </a:xfrm>
          <a:prstGeom prst="rect">
            <a:avLst/>
          </a:prstGeom>
          <a:noFill/>
        </p:spPr>
        <p:txBody>
          <a:bodyPr wrap="square" lIns="0" rIns="0" tIns="0" bIns="0" anchor="t">
            <a:spAutoFit/>
          </a:bodyPr>
          <a:lstStyle/>
          <a:p>
            <a:pPr>
              <a:lnSpc>
                <a:spcPct val="108000"/>
              </a:lnSpc>
              <a:spcBef>
                <a:spcPts val="0"/>
              </a:spcBef>
              <a:spcAft>
                <a:spcPts val="500"/>
              </a:spcAft>
            </a:pPr>
            <a:r>
              <a:rPr sz="1300" b="0">
                <a:solidFill>
                  <a:srgbClr val="356BDC"/>
                </a:solidFill>
                <a:latin typeface="Arial"/>
                <a:hlinkClick r:id="rId4"/>
              </a:rPr>
              <a:t>P3  MLPerf Tiny: quality, latency, energy</a:t>
            </a:r>
          </a:p>
        </p:txBody>
      </p:sp>
      <p:sp>
        <p:nvSpPr>
          <p:cNvPr id="20" name="TextBox 19"/>
          <p:cNvSpPr txBox="1"/>
          <p:nvPr/>
        </p:nvSpPr>
        <p:spPr>
          <a:xfrm>
            <a:off x="6227064" y="6080760"/>
            <a:ext cx="5303520" cy="246888"/>
          </a:xfrm>
          <a:prstGeom prst="rect">
            <a:avLst/>
          </a:prstGeom>
          <a:noFill/>
        </p:spPr>
        <p:txBody>
          <a:bodyPr wrap="square" lIns="0" rIns="0" tIns="0" bIns="0" anchor="t">
            <a:spAutoFit/>
          </a:bodyPr>
          <a:lstStyle/>
          <a:p>
            <a:pPr>
              <a:lnSpc>
                <a:spcPct val="108000"/>
              </a:lnSpc>
              <a:spcBef>
                <a:spcPts val="0"/>
              </a:spcBef>
              <a:spcAft>
                <a:spcPts val="500"/>
              </a:spcAft>
            </a:pPr>
            <a:r>
              <a:rPr sz="1300" b="0">
                <a:solidFill>
                  <a:srgbClr val="356BDC"/>
                </a:solidFill>
                <a:latin typeface="Arial"/>
                <a:hlinkClick r:id="rId5"/>
              </a:rPr>
              <a:t>P4  MLPerf Edge: power measurement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NPU translation: current progress and the hardware gap</dc:title>
  <dc:subject>Measured translation completion, offline correctness checks, and unmeasured edge-AI performance</dc:subject>
  <dc:creator>NPU Playground</dc:creator>
  <cp:keywords>NPU, AMD, Intel, agentic translation, correctness, power, latency</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